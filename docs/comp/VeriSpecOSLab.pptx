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1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DF9C9DF-C96F-4598-A412-4C0D5D853F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EF803B2-0C08-4015-8332-CB5C4259A61D}"/>
              </a:ext>
            </a:extLst>
          </p:cNvPr>
          <p:cNvSpPr>
            <a:spLocks noGrp="1"/>
          </p:cNvSpPr>
          <p:nvPr/>
        </p:nvSpPr>
        <p:spPr>
          <a:xfrm>
            <a:off x="7239000" y="781050"/>
            <a:ext cx="3714750" cy="3714750"/>
          </a:xfrm>
          <a:prstGeom prst="ellipse">
            <a:avLst/>
          </a:prstGeom>
          <a:solidFill>
            <a:srgbClr val="E8F5FF"/>
          </a:solidFill>
          <a:ln w="19050">
            <a:solidFill>
              <a:srgbClr val="C8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7E523AD-B907-4174-B675-0BFA99BEDC77}"/>
              </a:ext>
            </a:extLst>
          </p:cNvPr>
          <p:cNvSpPr>
            <a:spLocks noGrp="1"/>
          </p:cNvSpPr>
          <p:nvPr/>
        </p:nvSpPr>
        <p:spPr>
          <a:xfrm>
            <a:off x="7905750" y="1447800"/>
            <a:ext cx="2381250" cy="2381250"/>
          </a:xfrm>
          <a:prstGeom prst="ellipse">
            <a:avLst/>
          </a:prstGeom>
          <a:solidFill>
            <a:srgbClr val="EDFDF9"/>
          </a:solidFill>
          <a:ln w="19050">
            <a:solidFill>
              <a:srgbClr val="B8F0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D1D3058-4A69-438C-9540-7F0E9CAB9C11}"/>
              </a:ext>
            </a:extLst>
          </p:cNvPr>
          <p:cNvSpPr>
            <a:spLocks noGrp="1"/>
          </p:cNvSpPr>
          <p:nvPr/>
        </p:nvSpPr>
        <p:spPr>
          <a:xfrm>
            <a:off x="8553450" y="2095500"/>
            <a:ext cx="1104900" cy="1104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B9E34B-5BE1-4741-B5F8-ED80BB4C6973}"/>
              </a:ext>
            </a:extLst>
          </p:cNvPr>
          <p:cNvSpPr>
            <a:spLocks noGrp="1"/>
          </p:cNvSpPr>
          <p:nvPr/>
        </p:nvSpPr>
        <p:spPr>
          <a:xfrm>
            <a:off x="647700" y="857250"/>
            <a:ext cx="685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VeriSpecOSLab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D388E0-4B29-4692-8C34-7C4AB8E0D413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AI 辅助、规格驱动的个性化操作系统教学实验方案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0CABDF-54BD-46E9-937E-4BFDE6022661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704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2026 年全国大学生计算机系统能力大赛 · 操作系统设计赛</a:t>
            </a:r>
          </a:p>
          <a:p>
            <a:pPr algn="l">
              <a:defRPr sz="15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功能挑战初赛提交材料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E30285-F452-4D55-BB67-B90185F11E5B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854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6520D7-A1E5-4A8B-8334-9A4E778A85B0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58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Spec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7A4A2B-4CF4-492A-AED3-CB0B219EA112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54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设计真相源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882E78-B2DA-4E88-B42E-F37F83DF597B}"/>
              </a:ext>
            </a:extLst>
          </p:cNvPr>
          <p:cNvSpPr>
            <a:spLocks noGrp="1"/>
          </p:cNvSpPr>
          <p:nvPr/>
        </p:nvSpPr>
        <p:spPr>
          <a:xfrm>
            <a:off x="2568575" y="415290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6A008B5-3426-4C5D-8CD2-614A1DF3F564}"/>
              </a:ext>
            </a:extLst>
          </p:cNvPr>
          <p:cNvSpPr>
            <a:spLocks noGrp="1"/>
          </p:cNvSpPr>
          <p:nvPr/>
        </p:nvSpPr>
        <p:spPr>
          <a:xfrm>
            <a:off x="2711450" y="3810000"/>
            <a:ext cx="1854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B0A58D-60CA-4F4C-8730-0F378E3CFC56}"/>
              </a:ext>
            </a:extLst>
          </p:cNvPr>
          <p:cNvSpPr>
            <a:spLocks noGrp="1"/>
          </p:cNvSpPr>
          <p:nvPr/>
        </p:nvSpPr>
        <p:spPr>
          <a:xfrm>
            <a:off x="2844800" y="3981450"/>
            <a:ext cx="158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374778-A83A-400B-8AD9-899A74265A06}"/>
              </a:ext>
            </a:extLst>
          </p:cNvPr>
          <p:cNvSpPr>
            <a:spLocks noGrp="1"/>
          </p:cNvSpPr>
          <p:nvPr/>
        </p:nvSpPr>
        <p:spPr>
          <a:xfrm>
            <a:off x="2863850" y="4362450"/>
            <a:ext cx="154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受控协作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CFDBF4-9E80-4F7B-8CC1-EF24F00506B5}"/>
              </a:ext>
            </a:extLst>
          </p:cNvPr>
          <p:cNvSpPr>
            <a:spLocks noGrp="1"/>
          </p:cNvSpPr>
          <p:nvPr/>
        </p:nvSpPr>
        <p:spPr>
          <a:xfrm>
            <a:off x="4594225" y="415290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913D62A-A002-44F2-95B3-FD3E27598A01}"/>
              </a:ext>
            </a:extLst>
          </p:cNvPr>
          <p:cNvSpPr>
            <a:spLocks noGrp="1"/>
          </p:cNvSpPr>
          <p:nvPr/>
        </p:nvSpPr>
        <p:spPr>
          <a:xfrm>
            <a:off x="4737100" y="3810000"/>
            <a:ext cx="1854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948306-C00F-4E41-89AC-B90F7B5B4484}"/>
              </a:ext>
            </a:extLst>
          </p:cNvPr>
          <p:cNvSpPr>
            <a:spLocks noGrp="1"/>
          </p:cNvSpPr>
          <p:nvPr/>
        </p:nvSpPr>
        <p:spPr>
          <a:xfrm>
            <a:off x="4870450" y="3981450"/>
            <a:ext cx="158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01D414-6200-420B-83DC-0DC0239F68C4}"/>
              </a:ext>
            </a:extLst>
          </p:cNvPr>
          <p:cNvSpPr>
            <a:spLocks noGrp="1"/>
          </p:cNvSpPr>
          <p:nvPr/>
        </p:nvSpPr>
        <p:spPr>
          <a:xfrm>
            <a:off x="4889500" y="4362450"/>
            <a:ext cx="154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EB18C-A7A3-4CB9-A307-65CA275F9AAB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学校</a:t>
            </a:r>
            <a:r>
              <a:rPr sz="1200" b="0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200" b="0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华东师范大学</a:t>
            </a:r>
            <a:r>
              <a:rPr sz="1200" b="0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b="0" dirty="0" err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队伍：</a:t>
            </a:r>
            <a:r>
              <a:rPr lang="en-US" altLang="zh-CN" sz="1200" b="0" dirty="0" err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Glenda</a:t>
            </a:r>
            <a:r>
              <a:rPr sz="1200" b="0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b="0" dirty="0" err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  <a:r>
              <a:rPr sz="1200" b="0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200" b="0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陈渝，石亮</a:t>
            </a:r>
            <a:endParaRPr sz="1200" b="0" dirty="0">
              <a:solidFill>
                <a:srgbClr val="8A96A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D0F2E8-857A-433E-B7DB-62A0A88FCA4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功能挑战初赛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141EAD-A0F5-4C0B-B3B2-7EBE7A5A006C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892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45A0DB0-A36D-4A91-AFC1-C594EAED97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C963185-B404-4BC2-ACE0-3C03542F5EE3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9788FF5-EE65-489D-98F7-DAEFB87F5230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05F5AB-5B0B-400C-A116-AB7CF6C61E0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困境一：学生在同一个框架里补答案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3162E-B5AA-4709-BC78-FB914A7A3332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传统 OS 实验很强，但个性化设计空间不足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CAB6B2-E775-472C-8C00-1FB299EEE2F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44F278-49E2-4426-8C7C-40C9ED4BD22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2C160D-4EC8-4385-9404-8A546F05973D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3458A2-22D2-4D94-A619-B1AA03E7DD9B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症结不是 xv6/rCore 不好，而是训练目标不同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B02393E-9C69-4489-8A57-28077317636F}"/>
              </a:ext>
            </a:extLst>
          </p:cNvPr>
          <p:cNvSpPr>
            <a:spLocks noGrp="1"/>
          </p:cNvSpPr>
          <p:nvPr/>
        </p:nvSpPr>
        <p:spPr>
          <a:xfrm>
            <a:off x="819150" y="225742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72E532-CBE8-4D47-8A71-91C3EF0E0D6F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MIT 6.S081：约 9000 行 xv6 框架，学生补代码缺口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F264F73-B1D2-4981-9F53-87E83EAD666D}"/>
              </a:ext>
            </a:extLst>
          </p:cNvPr>
          <p:cNvSpPr>
            <a:spLocks noGrp="1"/>
          </p:cNvSpPr>
          <p:nvPr/>
        </p:nvSpPr>
        <p:spPr>
          <a:xfrm>
            <a:off x="819150" y="273367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28ECAA-D366-469C-A180-FCEBFF11649B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rCore：Rust 与微内核教学优秀，但架构仍由课程预设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0E315FA-4C81-4FDE-9978-CF628597D2DA}"/>
              </a:ext>
            </a:extLst>
          </p:cNvPr>
          <p:cNvSpPr>
            <a:spLocks noGrp="1"/>
          </p:cNvSpPr>
          <p:nvPr/>
        </p:nvSpPr>
        <p:spPr>
          <a:xfrm>
            <a:off x="819150" y="320992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22514D-DE95-44AB-8695-9585A41CE99B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学生更关注“</a:t>
            </a:r>
            <a:r>
              <a:rPr sz="13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怎么跑通教师答案</a:t>
            </a:r>
            <a:r>
              <a:rPr sz="13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3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少经历“为什么这样设计</a:t>
            </a:r>
            <a:r>
              <a:rPr sz="13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877AB50-3B39-4A9F-B00A-B8684564566B}"/>
              </a:ext>
            </a:extLst>
          </p:cNvPr>
          <p:cNvSpPr>
            <a:spLocks noGrp="1"/>
          </p:cNvSpPr>
          <p:nvPr/>
        </p:nvSpPr>
        <p:spPr>
          <a:xfrm>
            <a:off x="5905500" y="2000250"/>
            <a:ext cx="1460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98ECC5-C8B6-4864-BE18-A6386D2F8D78}"/>
              </a:ext>
            </a:extLst>
          </p:cNvPr>
          <p:cNvSpPr>
            <a:spLocks noGrp="1"/>
          </p:cNvSpPr>
          <p:nvPr/>
        </p:nvSpPr>
        <p:spPr>
          <a:xfrm>
            <a:off x="6038850" y="2171700"/>
            <a:ext cx="119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给框架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49C3BE-458D-411F-AC8D-98744B4E0F1F}"/>
              </a:ext>
            </a:extLst>
          </p:cNvPr>
          <p:cNvSpPr>
            <a:spLocks noGrp="1"/>
          </p:cNvSpPr>
          <p:nvPr/>
        </p:nvSpPr>
        <p:spPr>
          <a:xfrm>
            <a:off x="6057900" y="2552700"/>
            <a:ext cx="1155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教师预设架构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D8E43E-1C48-4F23-AF8B-817F151D1C7E}"/>
              </a:ext>
            </a:extLst>
          </p:cNvPr>
          <p:cNvSpPr>
            <a:spLocks noGrp="1"/>
          </p:cNvSpPr>
          <p:nvPr/>
        </p:nvSpPr>
        <p:spPr>
          <a:xfrm>
            <a:off x="7394575" y="23907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5F8BEC0-EC7A-4FD9-8D82-B6772E0DB3A1}"/>
              </a:ext>
            </a:extLst>
          </p:cNvPr>
          <p:cNvSpPr>
            <a:spLocks noGrp="1"/>
          </p:cNvSpPr>
          <p:nvPr/>
        </p:nvSpPr>
        <p:spPr>
          <a:xfrm>
            <a:off x="7556500" y="2000250"/>
            <a:ext cx="1460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938F88-EF12-46D9-A942-2A27C789EBD5}"/>
              </a:ext>
            </a:extLst>
          </p:cNvPr>
          <p:cNvSpPr>
            <a:spLocks noGrp="1"/>
          </p:cNvSpPr>
          <p:nvPr/>
        </p:nvSpPr>
        <p:spPr>
          <a:xfrm>
            <a:off x="7689850" y="2171700"/>
            <a:ext cx="119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补代码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B822A1-6C98-43D8-98BF-109E6FDA5822}"/>
              </a:ext>
            </a:extLst>
          </p:cNvPr>
          <p:cNvSpPr>
            <a:spLocks noGrp="1"/>
          </p:cNvSpPr>
          <p:nvPr/>
        </p:nvSpPr>
        <p:spPr>
          <a:xfrm>
            <a:off x="7708900" y="2552700"/>
            <a:ext cx="1155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实现缺口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CE81F3-147D-49B2-B22C-AB000E5DB852}"/>
              </a:ext>
            </a:extLst>
          </p:cNvPr>
          <p:cNvSpPr>
            <a:spLocks noGrp="1"/>
          </p:cNvSpPr>
          <p:nvPr/>
        </p:nvSpPr>
        <p:spPr>
          <a:xfrm>
            <a:off x="9045575" y="23907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B663799-3FE2-4BED-BA9D-D0F90D8280C5}"/>
              </a:ext>
            </a:extLst>
          </p:cNvPr>
          <p:cNvSpPr>
            <a:spLocks noGrp="1"/>
          </p:cNvSpPr>
          <p:nvPr/>
        </p:nvSpPr>
        <p:spPr>
          <a:xfrm>
            <a:off x="9207500" y="2000250"/>
            <a:ext cx="1460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7767EC-D5FF-4FB3-9A07-BE5576F4983F}"/>
              </a:ext>
            </a:extLst>
          </p:cNvPr>
          <p:cNvSpPr>
            <a:spLocks noGrp="1"/>
          </p:cNvSpPr>
          <p:nvPr/>
        </p:nvSpPr>
        <p:spPr>
          <a:xfrm>
            <a:off x="9340850" y="2171700"/>
            <a:ext cx="119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跑测试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56D076-271F-44B7-9AEE-DD4D667A7EF2}"/>
              </a:ext>
            </a:extLst>
          </p:cNvPr>
          <p:cNvSpPr>
            <a:spLocks noGrp="1"/>
          </p:cNvSpPr>
          <p:nvPr/>
        </p:nvSpPr>
        <p:spPr>
          <a:xfrm>
            <a:off x="9359900" y="2552700"/>
            <a:ext cx="1155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通过率评分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57ECA9-284F-4685-8381-6F05014D87D6}"/>
              </a:ext>
            </a:extLst>
          </p:cNvPr>
          <p:cNvSpPr>
            <a:spLocks noGrp="1"/>
          </p:cNvSpPr>
          <p:nvPr/>
        </p:nvSpPr>
        <p:spPr>
          <a:xfrm>
            <a:off x="5943600" y="3714750"/>
            <a:ext cx="47244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缺失的训练：开放问题中的架构选择、取舍论证与系统演化</a:t>
            </a:r>
            <a:r>
              <a:rPr sz="2100" b="1" dirty="0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0906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F0153D1-1081-4347-9A6E-298B98601A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0F2431F-5558-4C55-B63D-E278082E9402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383640C-1291-476E-95D5-63A33AF017D0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1BA204-AC73-4623-B21F-A3C1B6DB947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困境二：教师被重复劳动淹没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FEEF61-F4D2-4A80-8A93-0C1DF82A25FF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教师的专业判断力应投入设计指导，而不是环境和低层 debug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7DF2FA9-49AE-42E9-899A-8D3B8128D68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8DBD9D-4D88-458F-ABA3-E0D3D2DB717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3254F6-93C5-4E9C-8378-2EE256562128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95F5C3-BF68-4792-814D-E136A72BEE5E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两类低价值消耗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8185C5D-0270-4F57-B7E8-DECBAB9EF513}"/>
              </a:ext>
            </a:extLst>
          </p:cNvPr>
          <p:cNvSpPr>
            <a:spLocks noGrp="1"/>
          </p:cNvSpPr>
          <p:nvPr/>
        </p:nvSpPr>
        <p:spPr>
          <a:xfrm>
            <a:off x="819150" y="225742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BC84CB-F69F-49D6-AABF-B19545FAC48C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环境问题：QEMU、RISC-V 工具链、Docker、路径差异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3882ED1-D3BF-45EB-8FCF-FAB70DD7E741}"/>
              </a:ext>
            </a:extLst>
          </p:cNvPr>
          <p:cNvSpPr>
            <a:spLocks noGrp="1"/>
          </p:cNvSpPr>
          <p:nvPr/>
        </p:nvSpPr>
        <p:spPr>
          <a:xfrm>
            <a:off x="819150" y="273367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D9A867-9F01-4332-A2A9-50D1BBB9D3DA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常见错误：页表缺项、链接脚本、Makefile、内存越界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8B80827-669C-401B-9039-2403AEB0C787}"/>
              </a:ext>
            </a:extLst>
          </p:cNvPr>
          <p:cNvSpPr>
            <a:spLocks noGrp="1"/>
          </p:cNvSpPr>
          <p:nvPr/>
        </p:nvSpPr>
        <p:spPr>
          <a:xfrm>
            <a:off x="819150" y="320992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5B3D68-7E3F-4359-B295-3C2497602C2C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评价困难：只看最终代码，无法区分“真懂”和“刚跑通”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5C00747-3AAD-418F-8CDC-0DC7E0ED9AAC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2190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299A819-72EA-4D64-99B0-743A83C702EF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35BB4F-9625-4DBD-B8CD-14850434D3D1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重复劳动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984166-D26F-478D-810E-A76E2A0B129F}"/>
              </a:ext>
            </a:extLst>
          </p:cNvPr>
          <p:cNvSpPr>
            <a:spLocks noGrp="1"/>
          </p:cNvSpPr>
          <p:nvPr/>
        </p:nvSpPr>
        <p:spPr>
          <a:xfrm>
            <a:off x="6134100" y="2400300"/>
            <a:ext cx="17907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每个学生都可能问同一类环境/构建/日志问题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F5F6B3F-E568-4F47-989E-5A482F753A7A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190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F97A01E-2CB7-46E9-B980-D59C2E672B6B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7DC9AC-A963-4B92-B2C2-812F4759CE82}"/>
              </a:ext>
            </a:extLst>
          </p:cNvPr>
          <p:cNvSpPr>
            <a:spLocks noGrp="1"/>
          </p:cNvSpPr>
          <p:nvPr/>
        </p:nvSpPr>
        <p:spPr>
          <a:xfrm>
            <a:off x="8705850" y="20002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评价盲区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94937F-F66D-4F89-8CA3-42B9C65E4283}"/>
              </a:ext>
            </a:extLst>
          </p:cNvPr>
          <p:cNvSpPr>
            <a:spLocks noGrp="1"/>
          </p:cNvSpPr>
          <p:nvPr/>
        </p:nvSpPr>
        <p:spPr>
          <a:xfrm>
            <a:off x="8705850" y="2400300"/>
            <a:ext cx="17907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测试通过率反映正确性，不等于设计能力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08F0BE-8533-49FA-9E87-A29EEC0CF4C3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目标：让 Agent 扛重复检查，让教师审设计思维。</a:t>
            </a:r>
          </a:p>
        </p:txBody>
      </p:sp>
    </p:spTree>
    <p:extLst>
      <p:ext uri="{BB962C8B-B14F-4D97-AF65-F5344CB8AC3E}">
        <p14:creationId xmlns:p14="http://schemas.microsoft.com/office/powerpoint/2010/main" val="87395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9B80ACC-DDD4-4C20-A030-81AA75A922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9F8CC06-9BC5-4B32-A81E-E43D845B5E84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20B0468-A72F-4203-A52A-0E226A5EF37E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2384C8-A69F-48D2-9CE6-93155B51CA3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困境三：AI 不能禁止，也不能放任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A3F756-C190-4898-8C0B-3BEDDFAAC4E3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比赛允许合理使用 AI，但要求披露工具、场景、交互和修正过程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59B286-E6C3-4228-A77D-4BDC14A06E7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3E468D-9A59-4643-B51B-AB8F4C9CC77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89C63-2209-4CA3-929B-DA1A4DB483A5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A15872-B5BF-4655-BE51-ECF379539648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AI 时代的新评分问题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B63C6F3-554D-4582-B3E3-8BF7002E29EC}"/>
              </a:ext>
            </a:extLst>
          </p:cNvPr>
          <p:cNvSpPr>
            <a:spLocks noGrp="1"/>
          </p:cNvSpPr>
          <p:nvPr/>
        </p:nvSpPr>
        <p:spPr>
          <a:xfrm>
            <a:off x="819150" y="225742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A88274-6C7E-4201-B451-178245E89523}"/>
              </a:ext>
            </a:extLst>
          </p:cNvPr>
          <p:cNvSpPr>
            <a:spLocks noGrp="1"/>
          </p:cNvSpPr>
          <p:nvPr/>
        </p:nvSpPr>
        <p:spPr>
          <a:xfrm>
            <a:off x="1028700" y="2150424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放任：学生可能把关键设计与实现责任交给</a:t>
            </a:r>
            <a:r>
              <a:rPr sz="13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 AI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6776D85-7755-47B1-A789-2AC44083F758}"/>
              </a:ext>
            </a:extLst>
          </p:cNvPr>
          <p:cNvSpPr>
            <a:spLocks noGrp="1"/>
          </p:cNvSpPr>
          <p:nvPr/>
        </p:nvSpPr>
        <p:spPr>
          <a:xfrm>
            <a:off x="819150" y="273367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439528-EE40-47ED-AEAF-ED9BE45A604D}"/>
              </a:ext>
            </a:extLst>
          </p:cNvPr>
          <p:cNvSpPr>
            <a:spLocks noGrp="1"/>
          </p:cNvSpPr>
          <p:nvPr/>
        </p:nvSpPr>
        <p:spPr>
          <a:xfrm>
            <a:off x="1028700" y="2610842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禁止：脱离真实软件工程环境，也损失有效学习工具</a:t>
            </a:r>
            <a:endParaRPr sz="1350" b="1" dirty="0">
              <a:solidFill>
                <a:srgbClr val="10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A02FEC9-EC44-4AE7-B880-1E60B4320909}"/>
              </a:ext>
            </a:extLst>
          </p:cNvPr>
          <p:cNvSpPr>
            <a:spLocks noGrp="1"/>
          </p:cNvSpPr>
          <p:nvPr/>
        </p:nvSpPr>
        <p:spPr>
          <a:xfrm>
            <a:off x="819150" y="327325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948DD2-F10D-4C4F-9486-61AAE10CF0FF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真正需要的是可控、可审计、可解释的协作框架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C23AF08-EA84-45C6-B650-7D971B2914D2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158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E6FE7B-EE7F-4463-86CE-CCF3EF52A815}"/>
              </a:ext>
            </a:extLst>
          </p:cNvPr>
          <p:cNvSpPr>
            <a:spLocks noGrp="1"/>
          </p:cNvSpPr>
          <p:nvPr/>
        </p:nvSpPr>
        <p:spPr>
          <a:xfrm>
            <a:off x="5943600" y="2124075"/>
            <a:ext cx="132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E6C6C9-C46F-437A-B288-8568905C93A4}"/>
              </a:ext>
            </a:extLst>
          </p:cNvPr>
          <p:cNvSpPr>
            <a:spLocks noGrp="1"/>
          </p:cNvSpPr>
          <p:nvPr/>
        </p:nvSpPr>
        <p:spPr>
          <a:xfrm>
            <a:off x="5962650" y="2505075"/>
            <a:ext cx="1282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模型与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659A7A-71E8-4FDC-BEDB-BFC3D2F9725D}"/>
              </a:ext>
            </a:extLst>
          </p:cNvPr>
          <p:cNvSpPr>
            <a:spLocks noGrp="1"/>
          </p:cNvSpPr>
          <p:nvPr/>
        </p:nvSpPr>
        <p:spPr>
          <a:xfrm>
            <a:off x="7426325" y="2381250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CFEDD0-D5FF-452B-B998-362055C4D749}"/>
              </a:ext>
            </a:extLst>
          </p:cNvPr>
          <p:cNvSpPr>
            <a:spLocks noGrp="1"/>
          </p:cNvSpPr>
          <p:nvPr/>
        </p:nvSpPr>
        <p:spPr>
          <a:xfrm>
            <a:off x="7588250" y="1952625"/>
            <a:ext cx="158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68E292-1054-473F-B5AA-A39DF9BB47A7}"/>
              </a:ext>
            </a:extLst>
          </p:cNvPr>
          <p:cNvSpPr>
            <a:spLocks noGrp="1"/>
          </p:cNvSpPr>
          <p:nvPr/>
        </p:nvSpPr>
        <p:spPr>
          <a:xfrm>
            <a:off x="7721600" y="2124075"/>
            <a:ext cx="132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221811-9938-4A60-8763-D8E6F8D19DE7}"/>
              </a:ext>
            </a:extLst>
          </p:cNvPr>
          <p:cNvSpPr>
            <a:spLocks noGrp="1"/>
          </p:cNvSpPr>
          <p:nvPr/>
        </p:nvSpPr>
        <p:spPr>
          <a:xfrm>
            <a:off x="7740650" y="2505075"/>
            <a:ext cx="1282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StageGate / Policy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A89821-4B9B-403D-A723-6E04FFB60EC9}"/>
              </a:ext>
            </a:extLst>
          </p:cNvPr>
          <p:cNvSpPr>
            <a:spLocks noGrp="1"/>
          </p:cNvSpPr>
          <p:nvPr/>
        </p:nvSpPr>
        <p:spPr>
          <a:xfrm>
            <a:off x="9204325" y="2381250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17B0AC4-F6C0-42FA-BD6E-EF7D741DA01E}"/>
              </a:ext>
            </a:extLst>
          </p:cNvPr>
          <p:cNvSpPr>
            <a:spLocks noGrp="1"/>
          </p:cNvSpPr>
          <p:nvPr/>
        </p:nvSpPr>
        <p:spPr>
          <a:xfrm>
            <a:off x="9366250" y="1952625"/>
            <a:ext cx="158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B2E326A-67BC-467C-B98D-DA29ABD1E779}"/>
              </a:ext>
            </a:extLst>
          </p:cNvPr>
          <p:cNvSpPr>
            <a:spLocks noGrp="1"/>
          </p:cNvSpPr>
          <p:nvPr/>
        </p:nvSpPr>
        <p:spPr>
          <a:xfrm>
            <a:off x="9499600" y="2124075"/>
            <a:ext cx="132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84EC9D-D10F-4118-BDC8-E173BFD58E96}"/>
              </a:ext>
            </a:extLst>
          </p:cNvPr>
          <p:cNvSpPr>
            <a:spLocks noGrp="1"/>
          </p:cNvSpPr>
          <p:nvPr/>
        </p:nvSpPr>
        <p:spPr>
          <a:xfrm>
            <a:off x="9518650" y="2505075"/>
            <a:ext cx="1282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log / diff / verify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E28D27-6998-4F03-B947-F09B49B1F948}"/>
              </a:ext>
            </a:extLst>
          </p:cNvPr>
          <p:cNvSpPr>
            <a:spLocks noGrp="1"/>
          </p:cNvSpPr>
          <p:nvPr/>
        </p:nvSpPr>
        <p:spPr>
          <a:xfrm>
            <a:off x="5771408" y="3714750"/>
            <a:ext cx="5182342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“AI </a:t>
            </a:r>
            <a:r>
              <a:rPr sz="2025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写了什么、我改了什么、如何验证”必须成为作品的一部分</a:t>
            </a:r>
            <a:r>
              <a:rPr sz="2025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398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AE43D02-DDCE-4DFB-AEF8-FE162D29B9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7718B9-8922-478E-9914-D89A74C3CF31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B8F06BF-5A02-4AC3-9CFD-EFC1A36950D1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76A308-285B-4F9E-AB52-1A405A40AF4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方案总览：以规格约束 AI，以验证保障正确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FA9EFF-4119-4854-A018-49DD1D8FC4B9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三条主线在同一条可复现流程中闭环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D3F9C9F-4B86-4AB6-8545-17EA5581A20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84FBCD-9332-4147-B404-8BFF6AB82C1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73C771-C999-46B2-848C-9994BC587F40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7BBB501-463E-4BFA-BA72-6C05B4430C60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AA3004-1385-4D99-8504-5998AC34C0E3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ArchSeed</a:t>
            </a:r>
            <a:endParaRPr sz="1575" b="1" dirty="0">
              <a:solidFill>
                <a:srgbClr val="0078D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DDDC6-C469-4F85-BC61-0B923D71969B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定义我的</a:t>
            </a:r>
            <a:r>
              <a:rPr sz="1200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OS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5D31A8-8394-4753-8491-DBDD5193105F}"/>
              </a:ext>
            </a:extLst>
          </p:cNvPr>
          <p:cNvSpPr>
            <a:spLocks noGrp="1"/>
          </p:cNvSpPr>
          <p:nvPr/>
        </p:nvSpPr>
        <p:spPr>
          <a:xfrm>
            <a:off x="2790825" y="2457450"/>
            <a:ext cx="85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E1D352B-87DF-47A9-9505-C57976F4BD2D}"/>
              </a:ext>
            </a:extLst>
          </p:cNvPr>
          <p:cNvSpPr>
            <a:spLocks noGrp="1"/>
          </p:cNvSpPr>
          <p:nvPr/>
        </p:nvSpPr>
        <p:spPr>
          <a:xfrm>
            <a:off x="2905125" y="20002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6C2618-34B1-4A58-B14C-69182AC5157E}"/>
              </a:ext>
            </a:extLst>
          </p:cNvPr>
          <p:cNvSpPr>
            <a:spLocks noGrp="1"/>
          </p:cNvSpPr>
          <p:nvPr/>
        </p:nvSpPr>
        <p:spPr>
          <a:xfrm>
            <a:off x="3038475" y="21717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OpContract</a:t>
            </a:r>
            <a:endParaRPr sz="1575" b="1" dirty="0">
              <a:solidFill>
                <a:srgbClr val="5C2D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8669E7-CD09-4352-A70F-9743C5C156D4}"/>
              </a:ext>
            </a:extLst>
          </p:cNvPr>
          <p:cNvSpPr>
            <a:spLocks noGrp="1"/>
          </p:cNvSpPr>
          <p:nvPr/>
        </p:nvSpPr>
        <p:spPr>
          <a:xfrm>
            <a:off x="3057525" y="255270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约束实现边界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B567DD-7BBF-48A8-84DA-7EAC7A057AC6}"/>
              </a:ext>
            </a:extLst>
          </p:cNvPr>
          <p:cNvSpPr>
            <a:spLocks noGrp="1"/>
          </p:cNvSpPr>
          <p:nvPr/>
        </p:nvSpPr>
        <p:spPr>
          <a:xfrm>
            <a:off x="4933950" y="2457450"/>
            <a:ext cx="85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4761882-1785-49A1-AAA1-B31902EB1F18}"/>
              </a:ext>
            </a:extLst>
          </p:cNvPr>
          <p:cNvSpPr>
            <a:spLocks noGrp="1"/>
          </p:cNvSpPr>
          <p:nvPr/>
        </p:nvSpPr>
        <p:spPr>
          <a:xfrm>
            <a:off x="5048250" y="20002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70A8A5-82A9-473A-AEEA-F5134453DFC8}"/>
              </a:ext>
            </a:extLst>
          </p:cNvPr>
          <p:cNvSpPr>
            <a:spLocks noGrp="1"/>
          </p:cNvSpPr>
          <p:nvPr/>
        </p:nvSpPr>
        <p:spPr>
          <a:xfrm>
            <a:off x="5181600" y="21717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Agent Runner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DA789F-EB93-47BB-9984-8993A19CCA81}"/>
              </a:ext>
            </a:extLst>
          </p:cNvPr>
          <p:cNvSpPr>
            <a:spLocks noGrp="1"/>
          </p:cNvSpPr>
          <p:nvPr/>
        </p:nvSpPr>
        <p:spPr>
          <a:xfrm>
            <a:off x="5200650" y="255270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按身份执行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638C47-0933-42B0-B4A4-C9C9FE9AF653}"/>
              </a:ext>
            </a:extLst>
          </p:cNvPr>
          <p:cNvSpPr>
            <a:spLocks noGrp="1"/>
          </p:cNvSpPr>
          <p:nvPr/>
        </p:nvSpPr>
        <p:spPr>
          <a:xfrm>
            <a:off x="7077075" y="2457450"/>
            <a:ext cx="85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7E17972-83C3-4359-A21E-F3468AEBCA23}"/>
              </a:ext>
            </a:extLst>
          </p:cNvPr>
          <p:cNvSpPr>
            <a:spLocks noGrp="1"/>
          </p:cNvSpPr>
          <p:nvPr/>
        </p:nvSpPr>
        <p:spPr>
          <a:xfrm>
            <a:off x="7191375" y="20002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7A4B90-1B5F-45B1-AE6F-551CFF2C4DA9}"/>
              </a:ext>
            </a:extLst>
          </p:cNvPr>
          <p:cNvSpPr>
            <a:spLocks noGrp="1"/>
          </p:cNvSpPr>
          <p:nvPr/>
        </p:nvSpPr>
        <p:spPr>
          <a:xfrm>
            <a:off x="7324725" y="21717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EF9259-9646-4A58-832D-3D181719CF7A}"/>
              </a:ext>
            </a:extLst>
          </p:cNvPr>
          <p:cNvSpPr>
            <a:spLocks noGrp="1"/>
          </p:cNvSpPr>
          <p:nvPr/>
        </p:nvSpPr>
        <p:spPr>
          <a:xfrm>
            <a:off x="7343775" y="255270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生成证据</a:t>
            </a:r>
            <a:endParaRPr sz="1200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831DEC-D83B-4225-AA0A-916F47BBAF5A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85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CDD5F0B-F864-4983-A7DF-C9475BA8ACA8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2000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40D546-8242-42E6-AA43-56F7B042B4B1}"/>
              </a:ext>
            </a:extLst>
          </p:cNvPr>
          <p:cNvSpPr>
            <a:spLocks noGrp="1"/>
          </p:cNvSpPr>
          <p:nvPr/>
        </p:nvSpPr>
        <p:spPr>
          <a:xfrm>
            <a:off x="9467850" y="21717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Teacher Review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06BAD8-9238-434E-B593-92B5DE764691}"/>
              </a:ext>
            </a:extLst>
          </p:cNvPr>
          <p:cNvSpPr>
            <a:spLocks noGrp="1"/>
          </p:cNvSpPr>
          <p:nvPr/>
        </p:nvSpPr>
        <p:spPr>
          <a:xfrm>
            <a:off x="9486900" y="2552700"/>
            <a:ext cx="1695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审查设计思维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ADB6F00-D49C-4813-9870-C95F4EE38241}"/>
              </a:ext>
            </a:extLst>
          </p:cNvPr>
          <p:cNvSpPr>
            <a:spLocks noGrp="1"/>
          </p:cNvSpPr>
          <p:nvPr/>
        </p:nvSpPr>
        <p:spPr>
          <a:xfrm>
            <a:off x="914400" y="4258049"/>
            <a:ext cx="295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19055FA-4D19-4A0F-847D-1464F2F8B9B8}"/>
              </a:ext>
            </a:extLst>
          </p:cNvPr>
          <p:cNvSpPr>
            <a:spLocks noGrp="1"/>
          </p:cNvSpPr>
          <p:nvPr/>
        </p:nvSpPr>
        <p:spPr>
          <a:xfrm>
            <a:off x="914400" y="4258049"/>
            <a:ext cx="76200" cy="9525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441B0B-4FE3-4151-A817-6691742DD900}"/>
              </a:ext>
            </a:extLst>
          </p:cNvPr>
          <p:cNvSpPr>
            <a:spLocks noGrp="1"/>
          </p:cNvSpPr>
          <p:nvPr/>
        </p:nvSpPr>
        <p:spPr>
          <a:xfrm>
            <a:off x="1143000" y="42862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学生线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764B3B-CD6C-40ED-9EBD-42DF076B4FA2}"/>
              </a:ext>
            </a:extLst>
          </p:cNvPr>
          <p:cNvSpPr>
            <a:spLocks noGrp="1"/>
          </p:cNvSpPr>
          <p:nvPr/>
        </p:nvSpPr>
        <p:spPr>
          <a:xfrm>
            <a:off x="1143000" y="468630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从补代码转向定义架构、写规格、解释取舍。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0632E77-DC34-40C7-A65E-E814B53C9416}"/>
              </a:ext>
            </a:extLst>
          </p:cNvPr>
          <p:cNvSpPr>
            <a:spLocks noGrp="1"/>
          </p:cNvSpPr>
          <p:nvPr/>
        </p:nvSpPr>
        <p:spPr>
          <a:xfrm>
            <a:off x="4629150" y="4262502"/>
            <a:ext cx="295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FF8A5D9-1E42-4025-94CA-7700C236AE3A}"/>
              </a:ext>
            </a:extLst>
          </p:cNvPr>
          <p:cNvSpPr>
            <a:spLocks noGrp="1"/>
          </p:cNvSpPr>
          <p:nvPr/>
        </p:nvSpPr>
        <p:spPr>
          <a:xfrm>
            <a:off x="4629150" y="4262502"/>
            <a:ext cx="76200" cy="95250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8C96BE-92C6-4F65-BF23-27D0CAC133C2}"/>
              </a:ext>
            </a:extLst>
          </p:cNvPr>
          <p:cNvSpPr>
            <a:spLocks noGrp="1"/>
          </p:cNvSpPr>
          <p:nvPr/>
        </p:nvSpPr>
        <p:spPr>
          <a:xfrm>
            <a:off x="4857750" y="42862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Agent 线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1673F1F-7433-4052-B162-D65E1E4A977F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从自由代写转向受控、受限、可审计协作。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32596A4-17D8-4B87-B428-7C5E5D50835C}"/>
              </a:ext>
            </a:extLst>
          </p:cNvPr>
          <p:cNvSpPr>
            <a:spLocks noGrp="1"/>
          </p:cNvSpPr>
          <p:nvPr/>
        </p:nvSpPr>
        <p:spPr>
          <a:xfrm>
            <a:off x="8343900" y="4286250"/>
            <a:ext cx="295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25C2306-9416-4B11-9CB7-61A8AC9BF592}"/>
              </a:ext>
            </a:extLst>
          </p:cNvPr>
          <p:cNvSpPr>
            <a:spLocks noGrp="1"/>
          </p:cNvSpPr>
          <p:nvPr/>
        </p:nvSpPr>
        <p:spPr>
          <a:xfrm>
            <a:off x="8343900" y="4286250"/>
            <a:ext cx="76200" cy="9525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05E18DE-B701-44AD-8424-1AF2E719A52B}"/>
              </a:ext>
            </a:extLst>
          </p:cNvPr>
          <p:cNvSpPr>
            <a:spLocks noGrp="1"/>
          </p:cNvSpPr>
          <p:nvPr/>
        </p:nvSpPr>
        <p:spPr>
          <a:xfrm>
            <a:off x="8572500" y="4286250"/>
            <a:ext cx="2552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教师线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6EFC50-3687-4E23-82A1-CC3538466DED}"/>
              </a:ext>
            </a:extLst>
          </p:cNvPr>
          <p:cNvSpPr>
            <a:spLocks noGrp="1"/>
          </p:cNvSpPr>
          <p:nvPr/>
        </p:nvSpPr>
        <p:spPr>
          <a:xfrm>
            <a:off x="8572500" y="4686300"/>
            <a:ext cx="2552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从代码检查员转向设计导师和治理规则制定者。</a:t>
            </a:r>
          </a:p>
        </p:txBody>
      </p:sp>
    </p:spTree>
    <p:extLst>
      <p:ext uri="{BB962C8B-B14F-4D97-AF65-F5344CB8AC3E}">
        <p14:creationId xmlns:p14="http://schemas.microsoft.com/office/powerpoint/2010/main" val="28769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58B7F58-475D-4FD1-81BB-4456CE3C19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378F5A4-9D5F-4211-943D-374B4280331C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E5821E5-85E3-4FD3-BED2-B01DAF3F33F0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C504D0-A5B7-42B0-B058-9DF3FC81C5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学生线：5 维自主设计空间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C097EF-175B-44CE-AE3D-4ADA48702D6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每个学生从第一周开始定义自己的 OS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AD39B7B-7A25-4589-A8F2-468571AF7A4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D8C73D-BA7D-4D7F-BC04-57D57739F4E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411E19-D801-4FC9-BB53-37F1EA464D98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1737B1-FA4D-42DB-BB94-B7CB2564DF82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E1E6712-770E-4D51-82EF-335DD28CCFE9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6200" cy="116205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DA9B61-830B-4BAC-9F43-ABF65F97F48B}"/>
              </a:ext>
            </a:extLst>
          </p:cNvPr>
          <p:cNvSpPr>
            <a:spLocks noGrp="1"/>
          </p:cNvSpPr>
          <p:nvPr/>
        </p:nvSpPr>
        <p:spPr>
          <a:xfrm>
            <a:off x="1085850" y="19050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内核组织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AAB360-D89F-4124-95D9-33F22BBC6377}"/>
              </a:ext>
            </a:extLst>
          </p:cNvPr>
          <p:cNvSpPr>
            <a:spLocks noGrp="1"/>
          </p:cNvSpPr>
          <p:nvPr/>
        </p:nvSpPr>
        <p:spPr>
          <a:xfrm>
            <a:off x="1085850" y="230505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宏内核 / 微内核 / Exokernel / Unikernel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6A8E80-042D-4A4E-8C62-56E5CF22937E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A959129-DE11-4179-80E2-365A964093BF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76200" cy="116205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E10ECA-D0AB-4919-B200-CDBB1915F9AD}"/>
              </a:ext>
            </a:extLst>
          </p:cNvPr>
          <p:cNvSpPr>
            <a:spLocks noGrp="1"/>
          </p:cNvSpPr>
          <p:nvPr/>
        </p:nvSpPr>
        <p:spPr>
          <a:xfrm>
            <a:off x="4610100" y="19050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执行模型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22828B-461A-4C8A-A237-5CCCD13A439C}"/>
              </a:ext>
            </a:extLst>
          </p:cNvPr>
          <p:cNvSpPr>
            <a:spLocks noGrp="1"/>
          </p:cNvSpPr>
          <p:nvPr/>
        </p:nvSpPr>
        <p:spPr>
          <a:xfrm>
            <a:off x="4610100" y="230505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进程 / 线程 / Actor / 调度策略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815D160-F37B-4127-B72E-B95C9262E877}"/>
              </a:ext>
            </a:extLst>
          </p:cNvPr>
          <p:cNvSpPr>
            <a:spLocks noGrp="1"/>
          </p:cNvSpPr>
          <p:nvPr/>
        </p:nvSpPr>
        <p:spPr>
          <a:xfrm>
            <a:off x="7905750" y="1714500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31AF4E3-296F-4223-8F1C-AA289271A45F}"/>
              </a:ext>
            </a:extLst>
          </p:cNvPr>
          <p:cNvSpPr>
            <a:spLocks noGrp="1"/>
          </p:cNvSpPr>
          <p:nvPr/>
        </p:nvSpPr>
        <p:spPr>
          <a:xfrm>
            <a:off x="7905750" y="1714500"/>
            <a:ext cx="76200" cy="11620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30A67-59DC-415B-8DA2-C6F754AAB136}"/>
              </a:ext>
            </a:extLst>
          </p:cNvPr>
          <p:cNvSpPr>
            <a:spLocks noGrp="1"/>
          </p:cNvSpPr>
          <p:nvPr/>
        </p:nvSpPr>
        <p:spPr>
          <a:xfrm>
            <a:off x="8134350" y="19050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保护模型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0A5650-A123-4171-8227-2FDAC3647739}"/>
              </a:ext>
            </a:extLst>
          </p:cNvPr>
          <p:cNvSpPr>
            <a:spLocks noGrp="1"/>
          </p:cNvSpPr>
          <p:nvPr/>
        </p:nvSpPr>
        <p:spPr>
          <a:xfrm>
            <a:off x="8134350" y="230505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特权级 / 页表 / Capability / Handle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E70234D-190D-4CB2-B36B-79A0D5A266B8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D00515E-452E-4416-9C3D-9135B8DACB8E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76200" cy="116205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EFD82F-4E5F-4618-B4BD-D7E709A442C5}"/>
              </a:ext>
            </a:extLst>
          </p:cNvPr>
          <p:cNvSpPr>
            <a:spLocks noGrp="1"/>
          </p:cNvSpPr>
          <p:nvPr/>
        </p:nvSpPr>
        <p:spPr>
          <a:xfrm>
            <a:off x="1085850" y="35242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通信模型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A801E3-6F3E-435C-91D9-F3214EB321E8}"/>
              </a:ext>
            </a:extLst>
          </p:cNvPr>
          <p:cNvSpPr>
            <a:spLocks noGrp="1"/>
          </p:cNvSpPr>
          <p:nvPr/>
        </p:nvSpPr>
        <p:spPr>
          <a:xfrm>
            <a:off x="1085850" y="392430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syscall / IPC / 共享内存 / 事件通道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63772D1-AE41-4E4D-9C72-35930233D28D}"/>
              </a:ext>
            </a:extLst>
          </p:cNvPr>
          <p:cNvSpPr>
            <a:spLocks noGrp="1"/>
          </p:cNvSpPr>
          <p:nvPr/>
        </p:nvSpPr>
        <p:spPr>
          <a:xfrm>
            <a:off x="4381500" y="3333750"/>
            <a:ext cx="31432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0346DF6-064A-4141-A256-003AC78BC767}"/>
              </a:ext>
            </a:extLst>
          </p:cNvPr>
          <p:cNvSpPr>
            <a:spLocks noGrp="1"/>
          </p:cNvSpPr>
          <p:nvPr/>
        </p:nvSpPr>
        <p:spPr>
          <a:xfrm>
            <a:off x="4381500" y="3333750"/>
            <a:ext cx="76200" cy="116205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30810C-DEB5-4DD7-9D3C-ACD00EB14CEF}"/>
              </a:ext>
            </a:extLst>
          </p:cNvPr>
          <p:cNvSpPr>
            <a:spLocks noGrp="1"/>
          </p:cNvSpPr>
          <p:nvPr/>
        </p:nvSpPr>
        <p:spPr>
          <a:xfrm>
            <a:off x="4610100" y="35242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资源模型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822E02-FCE7-4A6F-809D-E18B2875680C}"/>
              </a:ext>
            </a:extLst>
          </p:cNvPr>
          <p:cNvSpPr>
            <a:spLocks noGrp="1"/>
          </p:cNvSpPr>
          <p:nvPr/>
        </p:nvSpPr>
        <p:spPr>
          <a:xfrm>
            <a:off x="4610100" y="3924300"/>
            <a:ext cx="2743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FD / Port / Object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  <a:endParaRPr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07F190-1B6A-45A0-9A70-468BA552A1E2}"/>
              </a:ext>
            </a:extLst>
          </p:cNvPr>
          <p:cNvSpPr>
            <a:spLocks noGrp="1"/>
          </p:cNvSpPr>
          <p:nvPr/>
        </p:nvSpPr>
        <p:spPr>
          <a:xfrm>
            <a:off x="1066800" y="53911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教师看到的不再是相似代码，而是不同设计路径上的取舍理由。</a:t>
            </a:r>
          </a:p>
        </p:txBody>
      </p:sp>
    </p:spTree>
    <p:extLst>
      <p:ext uri="{BB962C8B-B14F-4D97-AF65-F5344CB8AC3E}">
        <p14:creationId xmlns:p14="http://schemas.microsoft.com/office/powerpoint/2010/main" val="160112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6CF1944-FAD4-4C7F-AEBF-6424E12387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16A80DF-D2B2-462F-86E0-8524BC6ECDE6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4BDB746-6BF6-4A3C-AAE7-199106503D5C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CA131F-D17A-49A4-97E3-8605C5F233F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ArchitectureSeed：系统的第一份设计文档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A911A3-FA7C-4317-800A-126946A64C0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它记录“参考什么、修改什么、拒绝什么、为什么”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93AEF55-9C56-4B34-B4DC-D4EA03EFE97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AE1F2B-CF82-4240-8764-99B7CFBAE46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BC5C51-4EE6-4858-B2A9-7C594527F72B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A016800-0B46-4E89-B45F-5346088DEF4C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5334000" cy="30480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9525">
            <a:solidFill>
              <a:srgbClr val="2443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A9F446-8FA1-4AEE-94D6-AFE66237E8CD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ArchitectureSeed YAML 摘录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DB3BF9-FD14-4379-9869-505AF4CAC81B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4953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architecture_name: "MyMicroKernel"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reference_systems: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- system: "seL4"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borrowed_concepts: ["Capability"]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modified_concepts: ["simplified IPC"]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rejected_concepts: ["complete formal proof"]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kernel_organization:</a:t>
            </a:r>
          </a:p>
          <a:p>
            <a:pPr algn="l">
              <a:def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type: microkernel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56C72A-F96D-4BF9-AA53-F9DC4FB5D27A}"/>
              </a:ext>
            </a:extLst>
          </p:cNvPr>
          <p:cNvSpPr>
            <a:spLocks noGrp="1"/>
          </p:cNvSpPr>
          <p:nvPr/>
        </p:nvSpPr>
        <p:spPr>
          <a:xfrm>
            <a:off x="6671458" y="2007666"/>
            <a:ext cx="3905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25DF6EB-CD8F-4FDE-8087-47AED7D6A4AD}"/>
              </a:ext>
            </a:extLst>
          </p:cNvPr>
          <p:cNvSpPr>
            <a:spLocks noGrp="1"/>
          </p:cNvSpPr>
          <p:nvPr/>
        </p:nvSpPr>
        <p:spPr>
          <a:xfrm>
            <a:off x="6667500" y="2007666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9A2C0F-84A5-42CA-82F6-A0FC8DFD5296}"/>
              </a:ext>
            </a:extLst>
          </p:cNvPr>
          <p:cNvSpPr>
            <a:spLocks noGrp="1"/>
          </p:cNvSpPr>
          <p:nvPr/>
        </p:nvSpPr>
        <p:spPr>
          <a:xfrm>
            <a:off x="6896100" y="200025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Week 1 </a:t>
            </a:r>
            <a:r>
              <a:rPr sz="1650" b="1" dirty="0" err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即可审核</a:t>
            </a:r>
            <a:endParaRPr sz="1650" b="1" dirty="0">
              <a:solidFill>
                <a:srgbClr val="0078D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072633-9C4A-4AAA-BD63-51EBA611565A}"/>
              </a:ext>
            </a:extLst>
          </p:cNvPr>
          <p:cNvSpPr>
            <a:spLocks noGrp="1"/>
          </p:cNvSpPr>
          <p:nvPr/>
        </p:nvSpPr>
        <p:spPr>
          <a:xfrm>
            <a:off x="6896100" y="2400300"/>
            <a:ext cx="35052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方向性问题早发现，避免期末才知道路线错了。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64CD977-B8F2-436F-9246-197E20645D3A}"/>
              </a:ext>
            </a:extLst>
          </p:cNvPr>
          <p:cNvSpPr>
            <a:spLocks noGrp="1"/>
          </p:cNvSpPr>
          <p:nvPr/>
        </p:nvSpPr>
        <p:spPr>
          <a:xfrm>
            <a:off x="6667500" y="3131613"/>
            <a:ext cx="3905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3FAFEF4-CF41-40FD-8155-A35609C32F72}"/>
              </a:ext>
            </a:extLst>
          </p:cNvPr>
          <p:cNvSpPr>
            <a:spLocks noGrp="1"/>
          </p:cNvSpPr>
          <p:nvPr/>
        </p:nvSpPr>
        <p:spPr>
          <a:xfrm>
            <a:off x="6667500" y="3131613"/>
            <a:ext cx="76200" cy="8191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347CFE-1452-45C2-8789-BBCAD96DF403}"/>
              </a:ext>
            </a:extLst>
          </p:cNvPr>
          <p:cNvSpPr>
            <a:spLocks noGrp="1"/>
          </p:cNvSpPr>
          <p:nvPr/>
        </p:nvSpPr>
        <p:spPr>
          <a:xfrm>
            <a:off x="6896100" y="312420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研究深度可见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37FA78-0FA0-4B42-BAA2-43CFBBA38C6F}"/>
              </a:ext>
            </a:extLst>
          </p:cNvPr>
          <p:cNvSpPr>
            <a:spLocks noGrp="1"/>
          </p:cNvSpPr>
          <p:nvPr/>
        </p:nvSpPr>
        <p:spPr>
          <a:xfrm>
            <a:off x="6896100" y="3524250"/>
            <a:ext cx="35052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borrowed / modified / rejected 比“参考 Linux”更可评价。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8730318-1D83-4774-B717-29A500DD03C9}"/>
              </a:ext>
            </a:extLst>
          </p:cNvPr>
          <p:cNvSpPr>
            <a:spLocks noGrp="1"/>
          </p:cNvSpPr>
          <p:nvPr/>
        </p:nvSpPr>
        <p:spPr>
          <a:xfrm>
            <a:off x="6667500" y="4279316"/>
            <a:ext cx="39052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8D6898E-74D7-43A8-A4BB-BA654AAEDA4D}"/>
              </a:ext>
            </a:extLst>
          </p:cNvPr>
          <p:cNvSpPr>
            <a:spLocks noGrp="1"/>
          </p:cNvSpPr>
          <p:nvPr/>
        </p:nvSpPr>
        <p:spPr>
          <a:xfrm>
            <a:off x="6667500" y="4279316"/>
            <a:ext cx="76200" cy="81915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3594B6-8DB3-4F1C-8EA1-E42C4B7F8B32}"/>
              </a:ext>
            </a:extLst>
          </p:cNvPr>
          <p:cNvSpPr>
            <a:spLocks noGrp="1"/>
          </p:cNvSpPr>
          <p:nvPr/>
        </p:nvSpPr>
        <p:spPr>
          <a:xfrm>
            <a:off x="6896100" y="424815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个性化可追踪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91F663-9F6E-4861-989F-8551631029C2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350520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后续 Slice、ADR、SpecPatch 都回到这个设计起点。</a:t>
            </a:r>
          </a:p>
        </p:txBody>
      </p:sp>
    </p:spTree>
    <p:extLst>
      <p:ext uri="{BB962C8B-B14F-4D97-AF65-F5344CB8AC3E}">
        <p14:creationId xmlns:p14="http://schemas.microsoft.com/office/powerpoint/2010/main" val="95538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929DD0E-FF5D-4EE2-AB27-2F469F5118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E3B3527-C800-4A65-93E8-5A88B7AE7DC4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39DB883-32C6-404F-A156-F58889125F7A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61797E-4A89-48C0-847E-776CBB74610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ADR + Slice：让设计随阶段生长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33064A-DF73-4829-BBA8-E0726C7AE7A6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教师审的不是答案，而是决策过程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2C31A26-4087-4D84-B015-83388F5193D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D3E99C-D160-4575-B3F7-AB321C520CB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91798D-391E-42FB-890B-E130D347DA34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A4E3BE5-CD26-4275-ACBC-E760BCEA9E88}"/>
              </a:ext>
            </a:extLst>
          </p:cNvPr>
          <p:cNvSpPr>
            <a:spLocks noGrp="1"/>
          </p:cNvSpPr>
          <p:nvPr/>
        </p:nvSpPr>
        <p:spPr>
          <a:xfrm>
            <a:off x="838200" y="1828800"/>
            <a:ext cx="196596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737C58-717E-4B53-82B9-981DAF5DACA7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169926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Seed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21A701-6CEE-48DC-A40A-EB5065DA0870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16611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系统方向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AC7E14-7304-41F3-B1D1-E188D459ADB7}"/>
              </a:ext>
            </a:extLst>
          </p:cNvPr>
          <p:cNvSpPr>
            <a:spLocks noGrp="1"/>
          </p:cNvSpPr>
          <p:nvPr/>
        </p:nvSpPr>
        <p:spPr>
          <a:xfrm>
            <a:off x="2832735" y="2190750"/>
            <a:ext cx="7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4086277-A60D-4D85-8DBB-B5C3834C4192}"/>
              </a:ext>
            </a:extLst>
          </p:cNvPr>
          <p:cNvSpPr>
            <a:spLocks noGrp="1"/>
          </p:cNvSpPr>
          <p:nvPr/>
        </p:nvSpPr>
        <p:spPr>
          <a:xfrm>
            <a:off x="2937510" y="1828800"/>
            <a:ext cx="196596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47318A-F709-4681-84CE-E87770CBC6B3}"/>
              </a:ext>
            </a:extLst>
          </p:cNvPr>
          <p:cNvSpPr>
            <a:spLocks noGrp="1"/>
          </p:cNvSpPr>
          <p:nvPr/>
        </p:nvSpPr>
        <p:spPr>
          <a:xfrm>
            <a:off x="3070860" y="2000250"/>
            <a:ext cx="169926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Slice 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E5D84F-F45E-4A3B-A457-35FE70AE5375}"/>
              </a:ext>
            </a:extLst>
          </p:cNvPr>
          <p:cNvSpPr>
            <a:spLocks noGrp="1"/>
          </p:cNvSpPr>
          <p:nvPr/>
        </p:nvSpPr>
        <p:spPr>
          <a:xfrm>
            <a:off x="3089910" y="2381250"/>
            <a:ext cx="16611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启动路径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60807D-8118-4260-9CCD-3C5CA74E969C}"/>
              </a:ext>
            </a:extLst>
          </p:cNvPr>
          <p:cNvSpPr>
            <a:spLocks noGrp="1"/>
          </p:cNvSpPr>
          <p:nvPr/>
        </p:nvSpPr>
        <p:spPr>
          <a:xfrm>
            <a:off x="4932045" y="2190750"/>
            <a:ext cx="7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FE7B3DD-99B3-4BC0-BE47-FEC3244989B2}"/>
              </a:ext>
            </a:extLst>
          </p:cNvPr>
          <p:cNvSpPr>
            <a:spLocks noGrp="1"/>
          </p:cNvSpPr>
          <p:nvPr/>
        </p:nvSpPr>
        <p:spPr>
          <a:xfrm>
            <a:off x="5036820" y="1828800"/>
            <a:ext cx="196596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996950-E00C-43C9-A6C6-6842D4EF6A22}"/>
              </a:ext>
            </a:extLst>
          </p:cNvPr>
          <p:cNvSpPr>
            <a:spLocks noGrp="1"/>
          </p:cNvSpPr>
          <p:nvPr/>
        </p:nvSpPr>
        <p:spPr>
          <a:xfrm>
            <a:off x="5170170" y="2000250"/>
            <a:ext cx="169926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Slice 02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EBF2CD-C1BC-4A92-999B-F1012B5BB24A}"/>
              </a:ext>
            </a:extLst>
          </p:cNvPr>
          <p:cNvSpPr>
            <a:spLocks noGrp="1"/>
          </p:cNvSpPr>
          <p:nvPr/>
        </p:nvSpPr>
        <p:spPr>
          <a:xfrm>
            <a:off x="5189220" y="2381250"/>
            <a:ext cx="16611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内存模型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3E343F-0DA0-4E03-9239-8B400C0B09A2}"/>
              </a:ext>
            </a:extLst>
          </p:cNvPr>
          <p:cNvSpPr>
            <a:spLocks noGrp="1"/>
          </p:cNvSpPr>
          <p:nvPr/>
        </p:nvSpPr>
        <p:spPr>
          <a:xfrm>
            <a:off x="7031355" y="2190750"/>
            <a:ext cx="7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AD1114A-E17A-4FBD-9BB6-F6B7CE2F48DD}"/>
              </a:ext>
            </a:extLst>
          </p:cNvPr>
          <p:cNvSpPr>
            <a:spLocks noGrp="1"/>
          </p:cNvSpPr>
          <p:nvPr/>
        </p:nvSpPr>
        <p:spPr>
          <a:xfrm>
            <a:off x="7136130" y="1828800"/>
            <a:ext cx="196596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0A1183-76A2-474B-92CD-3824A5039474}"/>
              </a:ext>
            </a:extLst>
          </p:cNvPr>
          <p:cNvSpPr>
            <a:spLocks noGrp="1"/>
          </p:cNvSpPr>
          <p:nvPr/>
        </p:nvSpPr>
        <p:spPr>
          <a:xfrm>
            <a:off x="7269480" y="2000250"/>
            <a:ext cx="169926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ADR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AE7312-5998-4783-831B-DD03AE222A5D}"/>
              </a:ext>
            </a:extLst>
          </p:cNvPr>
          <p:cNvSpPr>
            <a:spLocks noGrp="1"/>
          </p:cNvSpPr>
          <p:nvPr/>
        </p:nvSpPr>
        <p:spPr>
          <a:xfrm>
            <a:off x="7288530" y="2381250"/>
            <a:ext cx="16611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9727CD-737D-4AD2-BE3F-3D4DA5D3CB6C}"/>
              </a:ext>
            </a:extLst>
          </p:cNvPr>
          <p:cNvSpPr>
            <a:spLocks noGrp="1"/>
          </p:cNvSpPr>
          <p:nvPr/>
        </p:nvSpPr>
        <p:spPr>
          <a:xfrm>
            <a:off x="9130665" y="2190750"/>
            <a:ext cx="76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1241063-D3F6-405F-A711-6249C1208536}"/>
              </a:ext>
            </a:extLst>
          </p:cNvPr>
          <p:cNvSpPr>
            <a:spLocks noGrp="1"/>
          </p:cNvSpPr>
          <p:nvPr/>
        </p:nvSpPr>
        <p:spPr>
          <a:xfrm>
            <a:off x="9235440" y="1828800"/>
            <a:ext cx="196596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B2485F-6B9E-4F74-A914-393668E01CAD}"/>
              </a:ext>
            </a:extLst>
          </p:cNvPr>
          <p:cNvSpPr>
            <a:spLocks noGrp="1"/>
          </p:cNvSpPr>
          <p:nvPr/>
        </p:nvSpPr>
        <p:spPr>
          <a:xfrm>
            <a:off x="9368790" y="2000250"/>
            <a:ext cx="169926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Synthesis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B00823E-7D6F-4802-87F7-5E1DDE5D81B8}"/>
              </a:ext>
            </a:extLst>
          </p:cNvPr>
          <p:cNvSpPr>
            <a:spLocks noGrp="1"/>
          </p:cNvSpPr>
          <p:nvPr/>
        </p:nvSpPr>
        <p:spPr>
          <a:xfrm>
            <a:off x="9387840" y="2381250"/>
            <a:ext cx="166116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最终自洽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4EDADCD-9156-4033-8D73-7821824E1557}"/>
              </a:ext>
            </a:extLst>
          </p:cNvPr>
          <p:cNvSpPr>
            <a:spLocks noGrp="1"/>
          </p:cNvSpPr>
          <p:nvPr/>
        </p:nvSpPr>
        <p:spPr>
          <a:xfrm>
            <a:off x="1371600" y="3619500"/>
            <a:ext cx="3017520" cy="390525"/>
          </a:xfrm>
          <a:prstGeom prst="roundRect">
            <a:avLst>
              <a:gd name="adj" fmla="val 19512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4E96742-1D80-4C80-B5CF-DF664A8FFAFD}"/>
              </a:ext>
            </a:extLst>
          </p:cNvPr>
          <p:cNvSpPr>
            <a:spLocks noGrp="1"/>
          </p:cNvSpPr>
          <p:nvPr/>
        </p:nvSpPr>
        <p:spPr>
          <a:xfrm>
            <a:off x="1466850" y="3705225"/>
            <a:ext cx="282702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ADR 审查问题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A35F4DA-9213-4C16-A859-EE8BC6448B6B}"/>
              </a:ext>
            </a:extLst>
          </p:cNvPr>
          <p:cNvSpPr>
            <a:spLocks noGrp="1"/>
          </p:cNvSpPr>
          <p:nvPr/>
        </p:nvSpPr>
        <p:spPr>
          <a:xfrm>
            <a:off x="4389120" y="3619500"/>
            <a:ext cx="6412230" cy="390525"/>
          </a:xfrm>
          <a:prstGeom prst="roundRect">
            <a:avLst>
              <a:gd name="adj" fmla="val 19512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F4BAED-AD11-47E2-97A4-60E9924FBA0F}"/>
              </a:ext>
            </a:extLst>
          </p:cNvPr>
          <p:cNvSpPr>
            <a:spLocks noGrp="1"/>
          </p:cNvSpPr>
          <p:nvPr/>
        </p:nvSpPr>
        <p:spPr>
          <a:xfrm>
            <a:off x="4484370" y="3705225"/>
            <a:ext cx="622173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好答案长什么样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00E84B6-3E1E-42A6-AD42-217AAB19208F}"/>
              </a:ext>
            </a:extLst>
          </p:cNvPr>
          <p:cNvSpPr>
            <a:spLocks noGrp="1"/>
          </p:cNvSpPr>
          <p:nvPr/>
        </p:nvSpPr>
        <p:spPr>
          <a:xfrm>
            <a:off x="1371600" y="4010025"/>
            <a:ext cx="301752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9B59180-2E71-4228-BB94-50FB6A3ACE3A}"/>
              </a:ext>
            </a:extLst>
          </p:cNvPr>
          <p:cNvSpPr>
            <a:spLocks noGrp="1"/>
          </p:cNvSpPr>
          <p:nvPr/>
        </p:nvSpPr>
        <p:spPr>
          <a:xfrm>
            <a:off x="1466850" y="4095750"/>
            <a:ext cx="282702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理由具体吗？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C19C23B-57BD-4046-825A-8F64CAF5DE0E}"/>
              </a:ext>
            </a:extLst>
          </p:cNvPr>
          <p:cNvSpPr>
            <a:spLocks noGrp="1"/>
          </p:cNvSpPr>
          <p:nvPr/>
        </p:nvSpPr>
        <p:spPr>
          <a:xfrm>
            <a:off x="4389120" y="4010025"/>
            <a:ext cx="6412230" cy="390525"/>
          </a:xfrm>
          <a:prstGeom prst="roundRect">
            <a:avLst>
              <a:gd name="adj" fmla="val 19512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254AE98-6B88-454F-94BC-F10C3DDD3B70}"/>
              </a:ext>
            </a:extLst>
          </p:cNvPr>
          <p:cNvSpPr>
            <a:spLocks noGrp="1"/>
          </p:cNvSpPr>
          <p:nvPr/>
        </p:nvSpPr>
        <p:spPr>
          <a:xfrm>
            <a:off x="4484370" y="4095750"/>
            <a:ext cx="622173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说明约束、收益和代价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B14C8A4-86D7-4019-9BBA-F18ADEB75F48}"/>
              </a:ext>
            </a:extLst>
          </p:cNvPr>
          <p:cNvSpPr>
            <a:spLocks noGrp="1"/>
          </p:cNvSpPr>
          <p:nvPr/>
        </p:nvSpPr>
        <p:spPr>
          <a:xfrm>
            <a:off x="1371600" y="4400550"/>
            <a:ext cx="301752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DA709E-ED8F-4360-9EED-04B7158F201F}"/>
              </a:ext>
            </a:extLst>
          </p:cNvPr>
          <p:cNvSpPr>
            <a:spLocks noGrp="1"/>
          </p:cNvSpPr>
          <p:nvPr/>
        </p:nvSpPr>
        <p:spPr>
          <a:xfrm>
            <a:off x="1466850" y="4486275"/>
            <a:ext cx="282702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替代方案考虑了吗？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ED0B6ED-D896-42A8-BDE4-4E231DAD0665}"/>
              </a:ext>
            </a:extLst>
          </p:cNvPr>
          <p:cNvSpPr>
            <a:spLocks noGrp="1"/>
          </p:cNvSpPr>
          <p:nvPr/>
        </p:nvSpPr>
        <p:spPr>
          <a:xfrm>
            <a:off x="4389120" y="4400550"/>
            <a:ext cx="6412230" cy="390525"/>
          </a:xfrm>
          <a:prstGeom prst="roundRect">
            <a:avLst>
              <a:gd name="adj" fmla="val 19512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6AF8275-C5A5-45C0-B1B1-DFA166471A4C}"/>
              </a:ext>
            </a:extLst>
          </p:cNvPr>
          <p:cNvSpPr>
            <a:spLocks noGrp="1"/>
          </p:cNvSpPr>
          <p:nvPr/>
        </p:nvSpPr>
        <p:spPr>
          <a:xfrm>
            <a:off x="4484370" y="4486275"/>
            <a:ext cx="622173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列出被拒绝方案及拒绝理由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FCB6CFE-AFB3-446D-A450-E8A4437D36BB}"/>
              </a:ext>
            </a:extLst>
          </p:cNvPr>
          <p:cNvSpPr>
            <a:spLocks noGrp="1"/>
          </p:cNvSpPr>
          <p:nvPr/>
        </p:nvSpPr>
        <p:spPr>
          <a:xfrm>
            <a:off x="1371600" y="4791075"/>
            <a:ext cx="301752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AC3BD9C-3B4D-4448-9EF3-7C8A075C8DAE}"/>
              </a:ext>
            </a:extLst>
          </p:cNvPr>
          <p:cNvSpPr>
            <a:spLocks noGrp="1"/>
          </p:cNvSpPr>
          <p:nvPr/>
        </p:nvSpPr>
        <p:spPr>
          <a:xfrm>
            <a:off x="1466850" y="4876800"/>
            <a:ext cx="282702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后果被预见了吗？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1391026-F1F8-4932-A67B-04FDC1192EDA}"/>
              </a:ext>
            </a:extLst>
          </p:cNvPr>
          <p:cNvSpPr>
            <a:spLocks noGrp="1"/>
          </p:cNvSpPr>
          <p:nvPr/>
        </p:nvSpPr>
        <p:spPr>
          <a:xfrm>
            <a:off x="4389120" y="4791075"/>
            <a:ext cx="6412230" cy="390525"/>
          </a:xfrm>
          <a:prstGeom prst="roundRect">
            <a:avLst>
              <a:gd name="adj" fmla="val 19512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DA157A4-1E97-4C8E-AF4F-AE090DBF6F0F}"/>
              </a:ext>
            </a:extLst>
          </p:cNvPr>
          <p:cNvSpPr>
            <a:spLocks noGrp="1"/>
          </p:cNvSpPr>
          <p:nvPr/>
        </p:nvSpPr>
        <p:spPr>
          <a:xfrm>
            <a:off x="4484370" y="4876800"/>
            <a:ext cx="622173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positive / negative / risks 都可追踪</a:t>
            </a:r>
          </a:p>
        </p:txBody>
      </p:sp>
    </p:spTree>
    <p:extLst>
      <p:ext uri="{BB962C8B-B14F-4D97-AF65-F5344CB8AC3E}">
        <p14:creationId xmlns:p14="http://schemas.microsoft.com/office/powerpoint/2010/main" val="36596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E8E5884-35F7-475F-8C1F-AC116C0F06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3AF680A-D7F0-4035-A33F-491235B6A917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976EFA3-3631-464A-B15F-23E2943719F7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C2DBE2-1C8A-46ED-9D27-E38AD67033D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指导书创新：设计导航，而非操作手册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35BBCE-C337-4D94-9D2B-D6CF66C2D6C2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描述问题，不预设方案；定义门禁，不指定通过方式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40DD11-66B3-4B48-94ED-2866B1FC239D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A9FB6F-B7B5-4CE4-AC08-FF4869C2555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F32FAC-E74E-41FA-B8AB-CC0734AE13F5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3EF87EF-850E-400E-B5E9-AFB52CFB7338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1562F6B-3F2E-4DA2-95C2-65CB43814617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76200" cy="13335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67FDFD-393D-4228-9A1A-997537A22B5B}"/>
              </a:ext>
            </a:extLst>
          </p:cNvPr>
          <p:cNvSpPr>
            <a:spLocks noGrp="1"/>
          </p:cNvSpPr>
          <p:nvPr/>
        </p:nvSpPr>
        <p:spPr>
          <a:xfrm>
            <a:off x="1085850" y="20002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Book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6F29AF-8DC8-49DB-957A-48645908B92F}"/>
              </a:ext>
            </a:extLst>
          </p:cNvPr>
          <p:cNvSpPr>
            <a:spLocks noGrp="1"/>
          </p:cNvSpPr>
          <p:nvPr/>
        </p:nvSpPr>
        <p:spPr>
          <a:xfrm>
            <a:off x="1085850" y="2400300"/>
            <a:ext cx="2743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解释为什么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历史驱动、机制来历、设计空间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21DB8CB-E70E-494D-A178-54B02C3E9B3F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9F1A029-D964-4FBF-8E69-D546A8933436}"/>
              </a:ext>
            </a:extLst>
          </p:cNvPr>
          <p:cNvSpPr>
            <a:spLocks noGrp="1"/>
          </p:cNvSpPr>
          <p:nvPr/>
        </p:nvSpPr>
        <p:spPr>
          <a:xfrm>
            <a:off x="4524375" y="1809750"/>
            <a:ext cx="76200" cy="133350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114E9B-7773-40D8-A984-15BF26CD75A7}"/>
              </a:ext>
            </a:extLst>
          </p:cNvPr>
          <p:cNvSpPr>
            <a:spLocks noGrp="1"/>
          </p:cNvSpPr>
          <p:nvPr/>
        </p:nvSpPr>
        <p:spPr>
          <a:xfrm>
            <a:off x="4752975" y="20002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Labs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4AEF94-6420-421E-B39F-6CFD84760FE3}"/>
              </a:ext>
            </a:extLst>
          </p:cNvPr>
          <p:cNvSpPr>
            <a:spLocks noGrp="1"/>
          </p:cNvSpPr>
          <p:nvPr/>
        </p:nvSpPr>
        <p:spPr>
          <a:xfrm>
            <a:off x="4752975" y="2400300"/>
            <a:ext cx="2743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说明做什么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阶段问题、规格要求、质量门禁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D2D3C29-880A-4A6D-A70C-AB57F48D60E6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15B2FD3-C5DE-44C7-AF83-5B8C05869E3D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76200" cy="13335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9A17B2-2748-414F-A46D-35253BC50571}"/>
              </a:ext>
            </a:extLst>
          </p:cNvPr>
          <p:cNvSpPr>
            <a:spLocks noGrp="1"/>
          </p:cNvSpPr>
          <p:nvPr/>
        </p:nvSpPr>
        <p:spPr>
          <a:xfrm>
            <a:off x="8420100" y="20002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Specs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1A76BB5-25C2-438D-80C3-617C822CAE10}"/>
              </a:ext>
            </a:extLst>
          </p:cNvPr>
          <p:cNvSpPr>
            <a:spLocks noGrp="1"/>
          </p:cNvSpPr>
          <p:nvPr/>
        </p:nvSpPr>
        <p:spPr>
          <a:xfrm>
            <a:off x="8420100" y="2400300"/>
            <a:ext cx="2743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教怎么写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ArchitectureSeed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ModuleSpec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OperationContract</a:t>
            </a:r>
            <a:endParaRPr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724FD04-AD2A-4A83-BA56-4F27BE2EB587}"/>
              </a:ext>
            </a:extLst>
          </p:cNvPr>
          <p:cNvSpPr>
            <a:spLocks noGrp="1"/>
          </p:cNvSpPr>
          <p:nvPr/>
        </p:nvSpPr>
        <p:spPr>
          <a:xfrm>
            <a:off x="2686050" y="381000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7BF630A-1885-47F6-A253-28D8F9B7147F}"/>
              </a:ext>
            </a:extLst>
          </p:cNvPr>
          <p:cNvSpPr>
            <a:spLocks noGrp="1"/>
          </p:cNvSpPr>
          <p:nvPr/>
        </p:nvSpPr>
        <p:spPr>
          <a:xfrm>
            <a:off x="2686050" y="38100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CDC02A-7534-4B19-8AED-0DC563878865}"/>
              </a:ext>
            </a:extLst>
          </p:cNvPr>
          <p:cNvSpPr>
            <a:spLocks noGrp="1"/>
          </p:cNvSpPr>
          <p:nvPr/>
        </p:nvSpPr>
        <p:spPr>
          <a:xfrm>
            <a:off x="2914650" y="40005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Appendices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A1E008-F42B-4135-B406-9162B92B15A2}"/>
              </a:ext>
            </a:extLst>
          </p:cNvPr>
          <p:cNvSpPr>
            <a:spLocks noGrp="1"/>
          </p:cNvSpPr>
          <p:nvPr/>
        </p:nvSpPr>
        <p:spPr>
          <a:xfrm>
            <a:off x="2914650" y="44005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工具速查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VOS、QEMU、GDB、RISC-V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1F9E656-455A-42F5-8A50-E44F719D614F}"/>
              </a:ext>
            </a:extLst>
          </p:cNvPr>
          <p:cNvSpPr>
            <a:spLocks noGrp="1"/>
          </p:cNvSpPr>
          <p:nvPr/>
        </p:nvSpPr>
        <p:spPr>
          <a:xfrm>
            <a:off x="6362700" y="381000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FE8F1B7-6919-4D3B-B5E7-7F0B8F5A663C}"/>
              </a:ext>
            </a:extLst>
          </p:cNvPr>
          <p:cNvSpPr>
            <a:spLocks noGrp="1"/>
          </p:cNvSpPr>
          <p:nvPr/>
        </p:nvSpPr>
        <p:spPr>
          <a:xfrm>
            <a:off x="6362700" y="38100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F8C646-8DB1-42BE-AB85-49C79F6609A6}"/>
              </a:ext>
            </a:extLst>
          </p:cNvPr>
          <p:cNvSpPr>
            <a:spLocks noGrp="1"/>
          </p:cNvSpPr>
          <p:nvPr/>
        </p:nvSpPr>
        <p:spPr>
          <a:xfrm>
            <a:off x="6591300" y="40005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EE7A5E-A7E0-462F-8C83-51266E9CBDE4}"/>
              </a:ext>
            </a:extLst>
          </p:cNvPr>
          <p:cNvSpPr>
            <a:spLocks noGrp="1"/>
          </p:cNvSpPr>
          <p:nvPr/>
        </p:nvSpPr>
        <p:spPr>
          <a:xfrm>
            <a:off x="6591300" y="44005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教师指南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StageGate、AI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Policy、Analytic</a:t>
            </a:r>
            <a:r>
              <a:rPr lang="en-US"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</a:t>
            </a:r>
            <a:endParaRPr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8266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A4FC8C4-2F4A-4EDF-9BF9-04EE5D1268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9A97A61-8E24-4C2D-9669-7E15EC0F0DA8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D54FF1A-E01C-417F-BC44-114FB5DBADA2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8344BA-3714-4C9D-89FB-4FE62DD6474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个性化目标：让学生定义“什么是成功”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DCB40B-6B40-417A-9E90-79246D23812C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GoalContract 把兴趣方向变成可验证目标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62991E-C122-42DC-9EC4-1908BFFB342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CD5C64-627F-43B4-B0AC-4AA2ED56D60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4A26D2-DA84-43D7-98A7-E9696CADFD95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9AF8A18-5A66-461D-AFD0-F35784604195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02C0C10-E8C1-4F14-9DC8-8F96F6B392B5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67D4C-3A0A-46EF-B563-D3B8CB48853C}"/>
              </a:ext>
            </a:extLst>
          </p:cNvPr>
          <p:cNvSpPr>
            <a:spLocks noGrp="1"/>
          </p:cNvSpPr>
          <p:nvPr/>
        </p:nvSpPr>
        <p:spPr>
          <a:xfrm>
            <a:off x="1085850" y="19812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F07A3E-FE19-4CC4-8433-DA7FC200F50C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188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syscall latency / IPC 吞吐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844614-0CF4-48C2-9B46-8A87585DDA47}"/>
              </a:ext>
            </a:extLst>
          </p:cNvPr>
          <p:cNvSpPr>
            <a:spLocks noGrp="1"/>
          </p:cNvSpPr>
          <p:nvPr/>
        </p:nvSpPr>
        <p:spPr>
          <a:xfrm>
            <a:off x="3524250" y="179070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8BE5B1-0580-4341-AC6E-993036A0211C}"/>
              </a:ext>
            </a:extLst>
          </p:cNvPr>
          <p:cNvSpPr>
            <a:spLocks noGrp="1"/>
          </p:cNvSpPr>
          <p:nvPr/>
        </p:nvSpPr>
        <p:spPr>
          <a:xfrm>
            <a:off x="3524250" y="17907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2D88D2-105B-44DC-9FCF-174B97A274B8}"/>
              </a:ext>
            </a:extLst>
          </p:cNvPr>
          <p:cNvSpPr>
            <a:spLocks noGrp="1"/>
          </p:cNvSpPr>
          <p:nvPr/>
        </p:nvSpPr>
        <p:spPr>
          <a:xfrm>
            <a:off x="3752850" y="19812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9FCEC16-2A09-4B21-89F4-F5C0AA35DDB2}"/>
              </a:ext>
            </a:extLst>
          </p:cNvPr>
          <p:cNvSpPr>
            <a:spLocks noGrp="1"/>
          </p:cNvSpPr>
          <p:nvPr/>
        </p:nvSpPr>
        <p:spPr>
          <a:xfrm>
            <a:off x="3752850" y="2381250"/>
            <a:ext cx="188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Capability / namespace 隔离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716DF1C-26A5-4258-A49B-9DFB365E0E59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C51B2EB-4C66-458B-92AF-32EF57D87525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C10815-91A6-48DA-95B3-605848B968B4}"/>
              </a:ext>
            </a:extLst>
          </p:cNvPr>
          <p:cNvSpPr>
            <a:spLocks noGrp="1"/>
          </p:cNvSpPr>
          <p:nvPr/>
        </p:nvSpPr>
        <p:spPr>
          <a:xfrm>
            <a:off x="6419850" y="19812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工程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B47D50-4401-4194-A89A-AAD56CBC3FE5}"/>
              </a:ext>
            </a:extLst>
          </p:cNvPr>
          <p:cNvSpPr>
            <a:spLocks noGrp="1"/>
          </p:cNvSpPr>
          <p:nvPr/>
        </p:nvSpPr>
        <p:spPr>
          <a:xfrm>
            <a:off x="6419850" y="2381250"/>
            <a:ext cx="188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镜像体积 / 启动速度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9E2A01-3E48-431C-8477-F20909C471AE}"/>
              </a:ext>
            </a:extLst>
          </p:cNvPr>
          <p:cNvSpPr>
            <a:spLocks noGrp="1"/>
          </p:cNvSpPr>
          <p:nvPr/>
        </p:nvSpPr>
        <p:spPr>
          <a:xfrm>
            <a:off x="8858250" y="1790700"/>
            <a:ext cx="2286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23EE192-387C-4D0F-A43C-A81B7E2C02C6}"/>
              </a:ext>
            </a:extLst>
          </p:cNvPr>
          <p:cNvSpPr>
            <a:spLocks noGrp="1"/>
          </p:cNvSpPr>
          <p:nvPr/>
        </p:nvSpPr>
        <p:spPr>
          <a:xfrm>
            <a:off x="8858250" y="17907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5D524C-89BB-49D9-B1F1-ECAE67AA8FBA}"/>
              </a:ext>
            </a:extLst>
          </p:cNvPr>
          <p:cNvSpPr>
            <a:spLocks noGrp="1"/>
          </p:cNvSpPr>
          <p:nvPr/>
        </p:nvSpPr>
        <p:spPr>
          <a:xfrm>
            <a:off x="9086850" y="198120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兼容</a:t>
            </a:r>
            <a:endParaRPr sz="1650" b="1" dirty="0">
              <a:solidFill>
                <a:srgbClr val="5C2D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BADF8F-0297-4637-8FBD-C68E5B7DE1A5}"/>
              </a:ext>
            </a:extLst>
          </p:cNvPr>
          <p:cNvSpPr>
            <a:spLocks noGrp="1"/>
          </p:cNvSpPr>
          <p:nvPr/>
        </p:nvSpPr>
        <p:spPr>
          <a:xfrm>
            <a:off x="9086850" y="2381250"/>
            <a:ext cx="1885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Linux / Darwin / NT</a:t>
            </a:r>
            <a:endParaRPr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D340A01-B68B-4C92-ADC6-D253EE552B6E}"/>
              </a:ext>
            </a:extLst>
          </p:cNvPr>
          <p:cNvSpPr>
            <a:spLocks noGrp="1"/>
          </p:cNvSpPr>
          <p:nvPr/>
        </p:nvSpPr>
        <p:spPr>
          <a:xfrm>
            <a:off x="1562100" y="4000500"/>
            <a:ext cx="20859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0B836F-A62A-4760-B569-D422FF1672BA}"/>
              </a:ext>
            </a:extLst>
          </p:cNvPr>
          <p:cNvSpPr>
            <a:spLocks noGrp="1"/>
          </p:cNvSpPr>
          <p:nvPr/>
        </p:nvSpPr>
        <p:spPr>
          <a:xfrm>
            <a:off x="1695450" y="4171950"/>
            <a:ext cx="1819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F46C593-BF8C-424A-8F92-CD8415ECE639}"/>
              </a:ext>
            </a:extLst>
          </p:cNvPr>
          <p:cNvSpPr>
            <a:spLocks noGrp="1"/>
          </p:cNvSpPr>
          <p:nvPr/>
        </p:nvSpPr>
        <p:spPr>
          <a:xfrm>
            <a:off x="1714500" y="4552950"/>
            <a:ext cx="1781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当前水平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C43283-DB30-4B8E-A376-88422BF898F1}"/>
              </a:ext>
            </a:extLst>
          </p:cNvPr>
          <p:cNvSpPr>
            <a:spLocks noGrp="1"/>
          </p:cNvSpPr>
          <p:nvPr/>
        </p:nvSpPr>
        <p:spPr>
          <a:xfrm>
            <a:off x="3676650" y="432435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7C5A071-5B4C-4E00-AB40-0272B426C68F}"/>
              </a:ext>
            </a:extLst>
          </p:cNvPr>
          <p:cNvSpPr>
            <a:spLocks noGrp="1"/>
          </p:cNvSpPr>
          <p:nvPr/>
        </p:nvSpPr>
        <p:spPr>
          <a:xfrm>
            <a:off x="3819525" y="4000500"/>
            <a:ext cx="20859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173406-5921-481A-A1D6-F6401613063D}"/>
              </a:ext>
            </a:extLst>
          </p:cNvPr>
          <p:cNvSpPr>
            <a:spLocks noGrp="1"/>
          </p:cNvSpPr>
          <p:nvPr/>
        </p:nvSpPr>
        <p:spPr>
          <a:xfrm>
            <a:off x="3952875" y="4171950"/>
            <a:ext cx="1819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target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8908AB6-E721-4E2A-9958-8ED27B3FDA2C}"/>
              </a:ext>
            </a:extLst>
          </p:cNvPr>
          <p:cNvSpPr>
            <a:spLocks noGrp="1"/>
          </p:cNvSpPr>
          <p:nvPr/>
        </p:nvSpPr>
        <p:spPr>
          <a:xfrm>
            <a:off x="3971925" y="4552950"/>
            <a:ext cx="1781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目标值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F4ACFF-1154-4F0C-90DA-FB015942DE59}"/>
              </a:ext>
            </a:extLst>
          </p:cNvPr>
          <p:cNvSpPr>
            <a:spLocks noGrp="1"/>
          </p:cNvSpPr>
          <p:nvPr/>
        </p:nvSpPr>
        <p:spPr>
          <a:xfrm>
            <a:off x="5934075" y="432435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03B07A1-45FC-42F7-B1B4-72C8855716F2}"/>
              </a:ext>
            </a:extLst>
          </p:cNvPr>
          <p:cNvSpPr>
            <a:spLocks noGrp="1"/>
          </p:cNvSpPr>
          <p:nvPr/>
        </p:nvSpPr>
        <p:spPr>
          <a:xfrm>
            <a:off x="6076950" y="4000500"/>
            <a:ext cx="20859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68F7F9-6873-4D8C-90C6-95430D12CE30}"/>
              </a:ext>
            </a:extLst>
          </p:cNvPr>
          <p:cNvSpPr>
            <a:spLocks noGrp="1"/>
          </p:cNvSpPr>
          <p:nvPr/>
        </p:nvSpPr>
        <p:spPr>
          <a:xfrm>
            <a:off x="6210300" y="4171950"/>
            <a:ext cx="1819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1108C19-D5A0-46C0-9E56-8122B2F68909}"/>
              </a:ext>
            </a:extLst>
          </p:cNvPr>
          <p:cNvSpPr>
            <a:spLocks noGrp="1"/>
          </p:cNvSpPr>
          <p:nvPr/>
        </p:nvSpPr>
        <p:spPr>
          <a:xfrm>
            <a:off x="6229350" y="4552950"/>
            <a:ext cx="1781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测量方法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D043F9C-2274-4B33-AF90-938110430059}"/>
              </a:ext>
            </a:extLst>
          </p:cNvPr>
          <p:cNvSpPr>
            <a:spLocks noGrp="1"/>
          </p:cNvSpPr>
          <p:nvPr/>
        </p:nvSpPr>
        <p:spPr>
          <a:xfrm>
            <a:off x="8191500" y="4324350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C7B4A9B-FB61-4AB7-992F-A09199BC43D6}"/>
              </a:ext>
            </a:extLst>
          </p:cNvPr>
          <p:cNvSpPr>
            <a:spLocks noGrp="1"/>
          </p:cNvSpPr>
          <p:nvPr/>
        </p:nvSpPr>
        <p:spPr>
          <a:xfrm>
            <a:off x="8334375" y="4000500"/>
            <a:ext cx="20859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0318BEC-F1C6-4910-8625-5BD48372325C}"/>
              </a:ext>
            </a:extLst>
          </p:cNvPr>
          <p:cNvSpPr>
            <a:spLocks noGrp="1"/>
          </p:cNvSpPr>
          <p:nvPr/>
        </p:nvSpPr>
        <p:spPr>
          <a:xfrm>
            <a:off x="8467725" y="4171950"/>
            <a:ext cx="1819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constraints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205072-47AC-4F27-81F6-7C01E80F2E42}"/>
              </a:ext>
            </a:extLst>
          </p:cNvPr>
          <p:cNvSpPr>
            <a:spLocks noGrp="1"/>
          </p:cNvSpPr>
          <p:nvPr/>
        </p:nvSpPr>
        <p:spPr>
          <a:xfrm>
            <a:off x="8486775" y="4552950"/>
            <a:ext cx="1781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正确性保护</a:t>
            </a:r>
          </a:p>
        </p:txBody>
      </p:sp>
    </p:spTree>
    <p:extLst>
      <p:ext uri="{BB962C8B-B14F-4D97-AF65-F5344CB8AC3E}">
        <p14:creationId xmlns:p14="http://schemas.microsoft.com/office/powerpoint/2010/main" val="199853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CD2044B-9F04-47B1-AABA-100B71C1E0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1AC3A38-840E-4BF6-A329-87BECB179306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FC9FF9C-F598-46AC-98F5-2C22FD55C89F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828338-82B0-4BC2-868F-355D884A385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Agent 线：身份与能力包绑定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627DE3-D1D9-4AE8-B09B-9FF2261990E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AI 不是一个万能开关，而是多个受限任务 profile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1EEDA6D-D6E0-4AE9-B607-B9A2F0E0CDE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E7CD0D-03F5-40E4-B4AD-FE114835E0A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B3E738-6E6B-4840-89EF-0005F8DB5D66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31A27CC-4446-4DF4-89B2-20DECABCB3C0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1341120" cy="523875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5C6244-09F3-41D3-BEF9-72EDDDC9682B}"/>
              </a:ext>
            </a:extLst>
          </p:cNvPr>
          <p:cNvSpPr>
            <a:spLocks noGrp="1"/>
          </p:cNvSpPr>
          <p:nvPr/>
        </p:nvSpPr>
        <p:spPr>
          <a:xfrm>
            <a:off x="838200" y="1781175"/>
            <a:ext cx="11506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FAF794-36BE-43E0-BA00-53DAA725599B}"/>
              </a:ext>
            </a:extLst>
          </p:cNvPr>
          <p:cNvSpPr>
            <a:spLocks noGrp="1"/>
          </p:cNvSpPr>
          <p:nvPr/>
        </p:nvSpPr>
        <p:spPr>
          <a:xfrm>
            <a:off x="2084070" y="1695450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CB4955-4093-466D-A201-23DF4B0E2738}"/>
              </a:ext>
            </a:extLst>
          </p:cNvPr>
          <p:cNvSpPr>
            <a:spLocks noGrp="1"/>
          </p:cNvSpPr>
          <p:nvPr/>
        </p:nvSpPr>
        <p:spPr>
          <a:xfrm>
            <a:off x="2179320" y="1781175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可做什么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3EF86EA-E728-4B67-9601-1B66CC4E1696}"/>
              </a:ext>
            </a:extLst>
          </p:cNvPr>
          <p:cNvSpPr>
            <a:spLocks noGrp="1"/>
          </p:cNvSpPr>
          <p:nvPr/>
        </p:nvSpPr>
        <p:spPr>
          <a:xfrm>
            <a:off x="4461510" y="1695450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AEAF2C-1765-4F8B-B5B4-232928AED8B2}"/>
              </a:ext>
            </a:extLst>
          </p:cNvPr>
          <p:cNvSpPr>
            <a:spLocks noGrp="1"/>
          </p:cNvSpPr>
          <p:nvPr/>
        </p:nvSpPr>
        <p:spPr>
          <a:xfrm>
            <a:off x="4556760" y="1781175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D2313AB-A3D8-46AE-9E8B-53C22C54C2F4}"/>
              </a:ext>
            </a:extLst>
          </p:cNvPr>
          <p:cNvSpPr>
            <a:spLocks noGrp="1"/>
          </p:cNvSpPr>
          <p:nvPr/>
        </p:nvSpPr>
        <p:spPr>
          <a:xfrm>
            <a:off x="742950" y="2219325"/>
            <a:ext cx="13411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6EBD9F-69D8-4F13-8C93-19D7500EE719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11506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spec-author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22E860A-13C9-496A-B147-30C4FC15A5F1}"/>
              </a:ext>
            </a:extLst>
          </p:cNvPr>
          <p:cNvSpPr>
            <a:spLocks noGrp="1"/>
          </p:cNvSpPr>
          <p:nvPr/>
        </p:nvSpPr>
        <p:spPr>
          <a:xfrm>
            <a:off x="2084070" y="2219325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0EFA3A-4CA4-440A-B578-7994F1232CB1}"/>
              </a:ext>
            </a:extLst>
          </p:cNvPr>
          <p:cNvSpPr>
            <a:spLocks noGrp="1"/>
          </p:cNvSpPr>
          <p:nvPr/>
        </p:nvSpPr>
        <p:spPr>
          <a:xfrm>
            <a:off x="2179320" y="2305050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规格修订与一致性建议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3EE1337-D28B-4327-ABF3-03E1EAD5192C}"/>
              </a:ext>
            </a:extLst>
          </p:cNvPr>
          <p:cNvSpPr>
            <a:spLocks noGrp="1"/>
          </p:cNvSpPr>
          <p:nvPr/>
        </p:nvSpPr>
        <p:spPr>
          <a:xfrm>
            <a:off x="4461510" y="2219325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6AAF2C-6119-4307-97C6-4C345509C414}"/>
              </a:ext>
            </a:extLst>
          </p:cNvPr>
          <p:cNvSpPr>
            <a:spLocks noGrp="1"/>
          </p:cNvSpPr>
          <p:nvPr/>
        </p:nvSpPr>
        <p:spPr>
          <a:xfrm>
            <a:off x="4556760" y="2305050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不直接写代码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096F9EA-846A-49EF-95D1-9041B5B68116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13411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E30F631-7DF1-4331-89E9-BF80F197FFB1}"/>
              </a:ext>
            </a:extLst>
          </p:cNvPr>
          <p:cNvSpPr>
            <a:spLocks noGrp="1"/>
          </p:cNvSpPr>
          <p:nvPr/>
        </p:nvSpPr>
        <p:spPr>
          <a:xfrm>
            <a:off x="838200" y="2828925"/>
            <a:ext cx="11506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impl</a:t>
            </a:r>
            <a:r>
              <a:rPr sz="1125" b="0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AC8809B-376C-443E-8BCD-41B93688902E}"/>
              </a:ext>
            </a:extLst>
          </p:cNvPr>
          <p:cNvSpPr>
            <a:spLocks noGrp="1"/>
          </p:cNvSpPr>
          <p:nvPr/>
        </p:nvSpPr>
        <p:spPr>
          <a:xfrm>
            <a:off x="2084070" y="2743200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5EFD15-F11A-405D-9275-7455F38D0521}"/>
              </a:ext>
            </a:extLst>
          </p:cNvPr>
          <p:cNvSpPr>
            <a:spLocks noGrp="1"/>
          </p:cNvSpPr>
          <p:nvPr/>
        </p:nvSpPr>
        <p:spPr>
          <a:xfrm>
            <a:off x="2179320" y="2828925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按 OperationContract 生成补丁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5A9EFAA-A875-4A11-A4CF-9A92F162154F}"/>
              </a:ext>
            </a:extLst>
          </p:cNvPr>
          <p:cNvSpPr>
            <a:spLocks noGrp="1"/>
          </p:cNvSpPr>
          <p:nvPr/>
        </p:nvSpPr>
        <p:spPr>
          <a:xfrm>
            <a:off x="4461510" y="2743200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46E0E-0608-4F15-8441-AFD261DF1E9A}"/>
              </a:ext>
            </a:extLst>
          </p:cNvPr>
          <p:cNvSpPr>
            <a:spLocks noGrp="1"/>
          </p:cNvSpPr>
          <p:nvPr/>
        </p:nvSpPr>
        <p:spPr>
          <a:xfrm>
            <a:off x="4556760" y="2828925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受 codegen.targets 限制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BEBCDEF-7327-45D0-A3BC-749FF72A659F}"/>
              </a:ext>
            </a:extLst>
          </p:cNvPr>
          <p:cNvSpPr>
            <a:spLocks noGrp="1"/>
          </p:cNvSpPr>
          <p:nvPr/>
        </p:nvSpPr>
        <p:spPr>
          <a:xfrm>
            <a:off x="742950" y="3267075"/>
            <a:ext cx="13411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AF7B2AB-075B-4FB3-B4C5-867DA72BCE5C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11506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debugger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AEF8B29-BBE6-417C-9725-2461D4291090}"/>
              </a:ext>
            </a:extLst>
          </p:cNvPr>
          <p:cNvSpPr>
            <a:spLocks noGrp="1"/>
          </p:cNvSpPr>
          <p:nvPr/>
        </p:nvSpPr>
        <p:spPr>
          <a:xfrm>
            <a:off x="2084070" y="3267075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9459E-8C3D-460E-B7EE-3F4D4B5E8FCB}"/>
              </a:ext>
            </a:extLst>
          </p:cNvPr>
          <p:cNvSpPr>
            <a:spLocks noGrp="1"/>
          </p:cNvSpPr>
          <p:nvPr/>
        </p:nvSpPr>
        <p:spPr>
          <a:xfrm>
            <a:off x="2179320" y="3352800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读日志、插桩、解释失败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98C2E1A-5982-4EBC-B9E1-868C3EF174B5}"/>
              </a:ext>
            </a:extLst>
          </p:cNvPr>
          <p:cNvSpPr>
            <a:spLocks noGrp="1"/>
          </p:cNvSpPr>
          <p:nvPr/>
        </p:nvSpPr>
        <p:spPr>
          <a:xfrm>
            <a:off x="4461510" y="3267075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5907F2-1117-42F7-989A-C00B954A623C}"/>
              </a:ext>
            </a:extLst>
          </p:cNvPr>
          <p:cNvSpPr>
            <a:spLocks noGrp="1"/>
          </p:cNvSpPr>
          <p:nvPr/>
        </p:nvSpPr>
        <p:spPr>
          <a:xfrm>
            <a:off x="4556760" y="3352800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不能绕过验证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7837E60-B876-41A3-BB91-BB8076CB40A0}"/>
              </a:ext>
            </a:extLst>
          </p:cNvPr>
          <p:cNvSpPr>
            <a:spLocks noGrp="1"/>
          </p:cNvSpPr>
          <p:nvPr/>
        </p:nvSpPr>
        <p:spPr>
          <a:xfrm>
            <a:off x="742950" y="3790950"/>
            <a:ext cx="13411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9575539-B89E-4564-8CA7-38031A8B5BDA}"/>
              </a:ext>
            </a:extLst>
          </p:cNvPr>
          <p:cNvSpPr>
            <a:spLocks noGrp="1"/>
          </p:cNvSpPr>
          <p:nvPr/>
        </p:nvSpPr>
        <p:spPr>
          <a:xfrm>
            <a:off x="838200" y="3876675"/>
            <a:ext cx="11506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KB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D2D96CA-5510-459C-BE27-F4F201576392}"/>
              </a:ext>
            </a:extLst>
          </p:cNvPr>
          <p:cNvSpPr>
            <a:spLocks noGrp="1"/>
          </p:cNvSpPr>
          <p:nvPr/>
        </p:nvSpPr>
        <p:spPr>
          <a:xfrm>
            <a:off x="2084070" y="3790950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5857F4-44D4-44AA-A3AB-FB4CEBF5E61E}"/>
              </a:ext>
            </a:extLst>
          </p:cNvPr>
          <p:cNvSpPr>
            <a:spLocks noGrp="1"/>
          </p:cNvSpPr>
          <p:nvPr/>
        </p:nvSpPr>
        <p:spPr>
          <a:xfrm>
            <a:off x="2179320" y="3876675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课程/项目资料问答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9F534E2-E8CE-40E6-B4B7-9E0C4D3783DB}"/>
              </a:ext>
            </a:extLst>
          </p:cNvPr>
          <p:cNvSpPr>
            <a:spLocks noGrp="1"/>
          </p:cNvSpPr>
          <p:nvPr/>
        </p:nvSpPr>
        <p:spPr>
          <a:xfrm>
            <a:off x="4461510" y="3790950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51F41F1-AB04-4A41-B0F6-11CD7A41C1AC}"/>
              </a:ext>
            </a:extLst>
          </p:cNvPr>
          <p:cNvSpPr>
            <a:spLocks noGrp="1"/>
          </p:cNvSpPr>
          <p:nvPr/>
        </p:nvSpPr>
        <p:spPr>
          <a:xfrm>
            <a:off x="4556760" y="3876675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必须引用知识源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438F26E-11D8-4F45-A8E4-C0B6A817B234}"/>
              </a:ext>
            </a:extLst>
          </p:cNvPr>
          <p:cNvSpPr>
            <a:spLocks noGrp="1"/>
          </p:cNvSpPr>
          <p:nvPr/>
        </p:nvSpPr>
        <p:spPr>
          <a:xfrm>
            <a:off x="742950" y="4314825"/>
            <a:ext cx="13411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A501A6C-AC68-420B-BD64-C58EB94142CA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11506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reporter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2E3431D-4721-4516-B2C1-4A7908DDF783}"/>
              </a:ext>
            </a:extLst>
          </p:cNvPr>
          <p:cNvSpPr>
            <a:spLocks noGrp="1"/>
          </p:cNvSpPr>
          <p:nvPr/>
        </p:nvSpPr>
        <p:spPr>
          <a:xfrm>
            <a:off x="2084070" y="4314825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1E767BD-9AD0-4552-B363-DDBF767DB5A7}"/>
              </a:ext>
            </a:extLst>
          </p:cNvPr>
          <p:cNvSpPr>
            <a:spLocks noGrp="1"/>
          </p:cNvSpPr>
          <p:nvPr/>
        </p:nvSpPr>
        <p:spPr>
          <a:xfrm>
            <a:off x="2179320" y="4400550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报告素材整理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43C7D41-FE80-445C-AF48-4AC65F56AC6E}"/>
              </a:ext>
            </a:extLst>
          </p:cNvPr>
          <p:cNvSpPr>
            <a:spLocks noGrp="1"/>
          </p:cNvSpPr>
          <p:nvPr/>
        </p:nvSpPr>
        <p:spPr>
          <a:xfrm>
            <a:off x="4461510" y="4314825"/>
            <a:ext cx="237744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2774F4-A08E-47A1-AFB4-0B33919473CE}"/>
              </a:ext>
            </a:extLst>
          </p:cNvPr>
          <p:cNvSpPr>
            <a:spLocks noGrp="1"/>
          </p:cNvSpPr>
          <p:nvPr/>
        </p:nvSpPr>
        <p:spPr>
          <a:xfrm>
            <a:off x="4556760" y="4400550"/>
            <a:ext cx="218694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不得伪造证据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F5778E6-B5B5-47F0-B54C-AD73834BC243}"/>
              </a:ext>
            </a:extLst>
          </p:cNvPr>
          <p:cNvSpPr>
            <a:spLocks noGrp="1"/>
          </p:cNvSpPr>
          <p:nvPr/>
        </p:nvSpPr>
        <p:spPr>
          <a:xfrm>
            <a:off x="7239000" y="1809750"/>
            <a:ext cx="4095750" cy="2647950"/>
          </a:xfrm>
          <a:prstGeom prst="roundRect">
            <a:avLst>
              <a:gd name="adj" fmla="val 2878"/>
            </a:avLst>
          </a:prstGeom>
          <a:solidFill>
            <a:srgbClr val="0F172A"/>
          </a:solidFill>
          <a:ln w="9525">
            <a:solidFill>
              <a:srgbClr val="2443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7B4DE44-D509-4D35-AF81-7204CD4FB986}"/>
              </a:ext>
            </a:extLst>
          </p:cNvPr>
          <p:cNvSpPr>
            <a:spLocks noGrp="1"/>
          </p:cNvSpPr>
          <p:nvPr/>
        </p:nvSpPr>
        <p:spPr>
          <a:xfrm>
            <a:off x="7429500" y="19431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 dirty="0" err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profiles.ts</a:t>
            </a:r>
            <a:r>
              <a:rPr sz="1050" b="1" dirty="0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050" b="1" dirty="0" err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摘录</a:t>
            </a:r>
            <a:endParaRPr sz="1050" b="1" dirty="0">
              <a:solidFill>
                <a:srgbClr val="9BE7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C7F019C-7209-494F-8358-2789AA4AE74E}"/>
              </a:ext>
            </a:extLst>
          </p:cNvPr>
          <p:cNvSpPr>
            <a:spLocks noGrp="1"/>
          </p:cNvSpPr>
          <p:nvPr/>
        </p:nvSpPr>
        <p:spPr>
          <a:xfrm>
            <a:off x="7429500" y="2266950"/>
            <a:ext cx="371475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const PROFILE_CONFIGS = [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{ promptId: "spec-assistant.v1",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taskKinds: ["spec_revision"],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toolProfile: "readonly-spec" },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{ promptId: "debug-agent.v1",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taskKinds: ["debug"],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toolProfile: "readonly-debug" },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08830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BE0ACD0-044A-4ED5-A906-EAD9F10D81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4A27023-529F-4881-9012-D1A17C6E0445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69AEEF9-8328-4098-8941-B756465C59D4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F5124E-FFE1-458C-8AE3-2D76E0C208A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StageGate：梯度释放，而非一刀切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C4AE07-826C-43C8-9C03-1076E0AF8148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早期保护设计思维，后期释放效率工具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F31311-6FDC-439F-A673-BF71978940F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6FFFBD-0E32-40A9-9C96-E74ED04F0EC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C1FEDE-B8A6-4C8A-BA24-1071073DF1D8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68D5E14-3648-4A56-B46D-6282414DEF23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2428875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CB6ACF-B7A0-4914-B72C-76053689BC47}"/>
              </a:ext>
            </a:extLst>
          </p:cNvPr>
          <p:cNvSpPr>
            <a:spLocks noGrp="1"/>
          </p:cNvSpPr>
          <p:nvPr/>
        </p:nvSpPr>
        <p:spPr>
          <a:xfrm>
            <a:off x="1028700" y="2266950"/>
            <a:ext cx="2162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Stage 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FF9364-4FC5-407B-BC96-783B10F7BEBA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21240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spec-author</a:t>
            </a:r>
          </a:p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knowledgebase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B01CD3-5A42-4331-81DB-E013BF7CC768}"/>
              </a:ext>
            </a:extLst>
          </p:cNvPr>
          <p:cNvSpPr>
            <a:spLocks noGrp="1"/>
          </p:cNvSpPr>
          <p:nvPr/>
        </p:nvSpPr>
        <p:spPr>
          <a:xfrm>
            <a:off x="3352800" y="25812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8394AB0-2B69-4BD5-908C-7E7BD5D16796}"/>
              </a:ext>
            </a:extLst>
          </p:cNvPr>
          <p:cNvSpPr>
            <a:spLocks noGrp="1"/>
          </p:cNvSpPr>
          <p:nvPr/>
        </p:nvSpPr>
        <p:spPr>
          <a:xfrm>
            <a:off x="3514725" y="2095500"/>
            <a:ext cx="2428875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EBB8A5-AE0C-4B1A-AC57-441DC830913F}"/>
              </a:ext>
            </a:extLst>
          </p:cNvPr>
          <p:cNvSpPr>
            <a:spLocks noGrp="1"/>
          </p:cNvSpPr>
          <p:nvPr/>
        </p:nvSpPr>
        <p:spPr>
          <a:xfrm>
            <a:off x="3648075" y="2266950"/>
            <a:ext cx="2162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Stage 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CB5267-9198-49C9-8F4C-C95FA2C6F61F}"/>
              </a:ext>
            </a:extLst>
          </p:cNvPr>
          <p:cNvSpPr>
            <a:spLocks noGrp="1"/>
          </p:cNvSpPr>
          <p:nvPr/>
        </p:nvSpPr>
        <p:spPr>
          <a:xfrm>
            <a:off x="3667125" y="2647950"/>
            <a:ext cx="21240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+ implementer</a:t>
            </a:r>
          </a:p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+ toolchain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448A46-023E-4AE5-959F-2258BD3D8365}"/>
              </a:ext>
            </a:extLst>
          </p:cNvPr>
          <p:cNvSpPr>
            <a:spLocks noGrp="1"/>
          </p:cNvSpPr>
          <p:nvPr/>
        </p:nvSpPr>
        <p:spPr>
          <a:xfrm>
            <a:off x="5972175" y="25812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D23BC09-B103-4622-965E-01AEBE426DF6}"/>
              </a:ext>
            </a:extLst>
          </p:cNvPr>
          <p:cNvSpPr>
            <a:spLocks noGrp="1"/>
          </p:cNvSpPr>
          <p:nvPr/>
        </p:nvSpPr>
        <p:spPr>
          <a:xfrm>
            <a:off x="6134100" y="2095500"/>
            <a:ext cx="2428875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2F4E7D-DA9B-4EC6-8C04-5FDC6A70AE37}"/>
              </a:ext>
            </a:extLst>
          </p:cNvPr>
          <p:cNvSpPr>
            <a:spLocks noGrp="1"/>
          </p:cNvSpPr>
          <p:nvPr/>
        </p:nvSpPr>
        <p:spPr>
          <a:xfrm>
            <a:off x="6267450" y="2266950"/>
            <a:ext cx="2162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Stage 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486BE4-CCDF-49D3-BED7-27DD4150E8A4}"/>
              </a:ext>
            </a:extLst>
          </p:cNvPr>
          <p:cNvSpPr>
            <a:spLocks noGrp="1"/>
          </p:cNvSpPr>
          <p:nvPr/>
        </p:nvSpPr>
        <p:spPr>
          <a:xfrm>
            <a:off x="6286500" y="2647950"/>
            <a:ext cx="21240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+ debugger</a:t>
            </a:r>
          </a:p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错误诊断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89F878-8E09-4A2F-8A4E-60C8EBF90DB2}"/>
              </a:ext>
            </a:extLst>
          </p:cNvPr>
          <p:cNvSpPr>
            <a:spLocks noGrp="1"/>
          </p:cNvSpPr>
          <p:nvPr/>
        </p:nvSpPr>
        <p:spPr>
          <a:xfrm>
            <a:off x="8591550" y="25812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6848FD2-B56D-414D-A46B-33D6CBF38478}"/>
              </a:ext>
            </a:extLst>
          </p:cNvPr>
          <p:cNvSpPr>
            <a:spLocks noGrp="1"/>
          </p:cNvSpPr>
          <p:nvPr/>
        </p:nvSpPr>
        <p:spPr>
          <a:xfrm>
            <a:off x="8753475" y="2095500"/>
            <a:ext cx="2428875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DB4AF3-5137-453C-85E0-D5780A47217B}"/>
              </a:ext>
            </a:extLst>
          </p:cNvPr>
          <p:cNvSpPr>
            <a:spLocks noGrp="1"/>
          </p:cNvSpPr>
          <p:nvPr/>
        </p:nvSpPr>
        <p:spPr>
          <a:xfrm>
            <a:off x="8886825" y="2266950"/>
            <a:ext cx="2162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Stage 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484670-90B5-4EA5-9239-5EFB452B3FCB}"/>
              </a:ext>
            </a:extLst>
          </p:cNvPr>
          <p:cNvSpPr>
            <a:spLocks noGrp="1"/>
          </p:cNvSpPr>
          <p:nvPr/>
        </p:nvSpPr>
        <p:spPr>
          <a:xfrm>
            <a:off x="8905875" y="2647950"/>
            <a:ext cx="21240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+ reviewer</a:t>
            </a:r>
          </a:p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+ reporter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7CACAA-28F9-4602-955B-E7F418FBA616}"/>
              </a:ext>
            </a:extLst>
          </p:cNvPr>
          <p:cNvSpPr>
            <a:spLocks noGrp="1"/>
          </p:cNvSpPr>
          <p:nvPr/>
        </p:nvSpPr>
        <p:spPr>
          <a:xfrm>
            <a:off x="1219200" y="41910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教师表达的不是“禁用</a:t>
            </a:r>
            <a:r>
              <a:rPr sz="210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 AI”，</a:t>
            </a:r>
            <a:r>
              <a:rPr sz="210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而是“什么时候可以、可以到什么程度</a:t>
            </a:r>
            <a:r>
              <a:rPr sz="210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C868C20-6BCD-4C50-8FFB-1696D8B52A6B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4953000" cy="323850"/>
          </a:xfrm>
          <a:prstGeom prst="roundRect">
            <a:avLst>
              <a:gd name="adj" fmla="val 35294"/>
            </a:avLst>
          </a:prstGeom>
          <a:solidFill>
            <a:srgbClr val="FFF1F2"/>
          </a:solidFill>
          <a:ln w="9525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D0BDC0-5393-46F8-8B6E-6FBCB8C46D50}"/>
              </a:ext>
            </a:extLst>
          </p:cNvPr>
          <p:cNvSpPr>
            <a:spLocks noGrp="1"/>
          </p:cNvSpPr>
          <p:nvPr/>
        </p:nvSpPr>
        <p:spPr>
          <a:xfrm>
            <a:off x="3771900" y="4962525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例：process</a:t>
            </a:r>
            <a:r>
              <a:rPr sz="1050" b="1" dirty="0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1" dirty="0" err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阶段禁止</a:t>
            </a:r>
            <a:r>
              <a:rPr sz="1050" b="1" dirty="0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050" b="1" dirty="0" err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生成调度器核心</a:t>
            </a:r>
            <a:r>
              <a:rPr lang="zh-CN" altLang="en-US" sz="1050" b="1" dirty="0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1050" b="1" dirty="0">
              <a:solidFill>
                <a:srgbClr val="D1343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774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40F5AD-EC7C-4176-B085-550F328E21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9DD6AA0-E3B5-4644-92F4-F5642E0D6586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7C16477-81ED-48E2-B304-3BA8AB850819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B4FC30-D5BF-414D-98B7-BBF3D84B94F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Agent 审计：学术诚信有据可查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DBAD93-D20D-4DA9-81BD-D604FBE1943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每次生成都绑定 spec、diff、run 和 evidence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B856B86-5A52-45B6-B84D-C1C70099BCC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13C564-B5E3-43D6-BB4D-E956A446F22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B4EEE1-DE6F-498C-88DA-17394424F839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FF97F0-DE96-417A-B938-42A85619E821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5905500" cy="3295650"/>
          </a:xfrm>
          <a:prstGeom prst="roundRect">
            <a:avLst>
              <a:gd name="adj" fmla="val 2312"/>
            </a:avLst>
          </a:prstGeom>
          <a:solidFill>
            <a:srgbClr val="0F172A"/>
          </a:solidFill>
          <a:ln w="9525">
            <a:solidFill>
              <a:srgbClr val="2443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741716-6139-4564-80E1-30D53DAC6F1A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552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 dirty="0" err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vos</a:t>
            </a:r>
            <a:r>
              <a:rPr sz="1050" b="1" dirty="0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-core/</a:t>
            </a:r>
            <a:r>
              <a:rPr sz="1050" b="1" dirty="0" err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src</a:t>
            </a:r>
            <a:r>
              <a:rPr sz="1050" b="1" dirty="0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/</a:t>
            </a:r>
            <a:r>
              <a:rPr sz="1050" b="1" dirty="0" err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types.ts</a:t>
            </a:r>
            <a:endParaRPr sz="1050" b="1" dirty="0">
              <a:solidFill>
                <a:srgbClr val="9BE7FF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5D4C0F-78B8-40C8-B01B-CE1D1D396B88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55245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export interface CommitLedgerEntry {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commit_sha: string;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parent_sha?: string;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actor: "human" | "agent";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agent_session_id?: string;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run_id?: string;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spec_refs: string[];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changed_targets: string[];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evidence_refs: EvidenceRef[];</a:t>
            </a:r>
          </a:p>
          <a:p>
            <a:pPr algn="l">
              <a:def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B50DBB8-8B15-4906-92F5-04FC827B8B4F}"/>
              </a:ext>
            </a:extLst>
          </p:cNvPr>
          <p:cNvSpPr>
            <a:spLocks noGrp="1"/>
          </p:cNvSpPr>
          <p:nvPr/>
        </p:nvSpPr>
        <p:spPr>
          <a:xfrm>
            <a:off x="7105650" y="2095500"/>
            <a:ext cx="12096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0B7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37613F-87DE-45F4-BA79-68B10F8D450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942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3EC339-0C0F-45A0-921F-21EECEE4B98F}"/>
              </a:ext>
            </a:extLst>
          </p:cNvPr>
          <p:cNvSpPr>
            <a:spLocks noGrp="1"/>
          </p:cNvSpPr>
          <p:nvPr/>
        </p:nvSpPr>
        <p:spPr>
          <a:xfrm>
            <a:off x="7258050" y="2647950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Agent log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A74F02-3FAD-441B-AC26-7AFC9D051F57}"/>
              </a:ext>
            </a:extLst>
          </p:cNvPr>
          <p:cNvSpPr>
            <a:spLocks noGrp="1"/>
          </p:cNvSpPr>
          <p:nvPr/>
        </p:nvSpPr>
        <p:spPr>
          <a:xfrm>
            <a:off x="8343900" y="2419350"/>
            <a:ext cx="5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02F41A8-BE71-48AC-A2CD-1937855CA6B1}"/>
              </a:ext>
            </a:extLst>
          </p:cNvPr>
          <p:cNvSpPr>
            <a:spLocks noGrp="1"/>
          </p:cNvSpPr>
          <p:nvPr/>
        </p:nvSpPr>
        <p:spPr>
          <a:xfrm>
            <a:off x="8429625" y="2095500"/>
            <a:ext cx="12096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0FC460-B002-46F8-98E2-48EAC970EB7B}"/>
              </a:ext>
            </a:extLst>
          </p:cNvPr>
          <p:cNvSpPr>
            <a:spLocks noGrp="1"/>
          </p:cNvSpPr>
          <p:nvPr/>
        </p:nvSpPr>
        <p:spPr>
          <a:xfrm>
            <a:off x="8562975" y="2266950"/>
            <a:ext cx="942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补丁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E3E6DE-5264-4502-AB3A-FD51D9AFD42F}"/>
              </a:ext>
            </a:extLst>
          </p:cNvPr>
          <p:cNvSpPr>
            <a:spLocks noGrp="1"/>
          </p:cNvSpPr>
          <p:nvPr/>
        </p:nvSpPr>
        <p:spPr>
          <a:xfrm>
            <a:off x="8582025" y="2588575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changed targets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DD0678-F67E-416A-8BD5-45E16E8C3097}"/>
              </a:ext>
            </a:extLst>
          </p:cNvPr>
          <p:cNvSpPr>
            <a:spLocks noGrp="1"/>
          </p:cNvSpPr>
          <p:nvPr/>
        </p:nvSpPr>
        <p:spPr>
          <a:xfrm>
            <a:off x="9667875" y="2419350"/>
            <a:ext cx="5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CF3B079-D4B1-4772-B65D-AC667812D6FB}"/>
              </a:ext>
            </a:extLst>
          </p:cNvPr>
          <p:cNvSpPr>
            <a:spLocks noGrp="1"/>
          </p:cNvSpPr>
          <p:nvPr/>
        </p:nvSpPr>
        <p:spPr>
          <a:xfrm>
            <a:off x="9753600" y="2095500"/>
            <a:ext cx="120967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4796B8-04C0-4E34-9476-610F515601A8}"/>
              </a:ext>
            </a:extLst>
          </p:cNvPr>
          <p:cNvSpPr>
            <a:spLocks noGrp="1"/>
          </p:cNvSpPr>
          <p:nvPr/>
        </p:nvSpPr>
        <p:spPr>
          <a:xfrm>
            <a:off x="9886950" y="2266950"/>
            <a:ext cx="942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ED0EE1-1AE6-45C3-AF41-0806BF48C396}"/>
              </a:ext>
            </a:extLst>
          </p:cNvPr>
          <p:cNvSpPr>
            <a:spLocks noGrp="1"/>
          </p:cNvSpPr>
          <p:nvPr/>
        </p:nvSpPr>
        <p:spPr>
          <a:xfrm>
            <a:off x="9906000" y="2560866"/>
            <a:ext cx="904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run evidence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658B76-D283-49FB-B24E-24423EF279BB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回答</a:t>
            </a:r>
            <a:r>
              <a:rPr sz="16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16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披露要求：哪些来自</a:t>
            </a:r>
            <a:r>
              <a:rPr sz="16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b="1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AI、哪些由队员修改、错误如何发现与修正</a:t>
            </a:r>
            <a:r>
              <a:rPr sz="1650" b="1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8253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D29E500-EEC7-457C-A35F-0CB933C4E5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EC245BF-B92B-41E2-80F7-D70ED7ADB8F2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F3EAB3-315E-4DDA-B40B-B7BCAB3E762E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7B8708-B300-4E00-9E0C-53F90D84E23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知识库：用可追溯引用削减幻觉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8B636-8AD8-4D74-91C6-0D12934C401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课程、项目、外部资料分源管理，Agent 回答必须带出处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B640DB-99FC-4825-B149-6E68FDEB87F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CDFD21-6DD0-4DE5-902D-CC694074E6E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753992-A1E5-41B8-A8CE-7302010C7106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0BE4B00-5D00-48FF-A629-90CD7DA59C77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4762500" cy="238125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9525">
            <a:solidFill>
              <a:srgbClr val="2443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AB40B2-79C4-4809-8038-600472B6FFB7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 dirty="0" err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vos</a:t>
            </a:r>
            <a:r>
              <a:rPr sz="1050" b="1" dirty="0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-kb MCP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8F2747-E483-4250-B50D-FBE149E4AF5F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4381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tools: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kb_search      semantic search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kb_lookup      chunk lookup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kb_add_source  course/project/external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kb_list_sources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kb_remove_source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kb_clear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32C361A-733B-4DDE-BE8C-EE14E583834A}"/>
              </a:ext>
            </a:extLst>
          </p:cNvPr>
          <p:cNvSpPr>
            <a:spLocks noGrp="1"/>
          </p:cNvSpPr>
          <p:nvPr/>
        </p:nvSpPr>
        <p:spPr>
          <a:xfrm>
            <a:off x="6191250" y="1979958"/>
            <a:ext cx="4191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85E1D4F-F6AE-4A78-8863-0DF057C89E57}"/>
              </a:ext>
            </a:extLst>
          </p:cNvPr>
          <p:cNvSpPr>
            <a:spLocks noGrp="1"/>
          </p:cNvSpPr>
          <p:nvPr/>
        </p:nvSpPr>
        <p:spPr>
          <a:xfrm>
            <a:off x="6191250" y="1979958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D24606-5295-487E-8F2E-8CC86F9DD7A8}"/>
              </a:ext>
            </a:extLst>
          </p:cNvPr>
          <p:cNvSpPr>
            <a:spLocks noGrp="1"/>
          </p:cNvSpPr>
          <p:nvPr/>
        </p:nvSpPr>
        <p:spPr>
          <a:xfrm>
            <a:off x="6419850" y="2000250"/>
            <a:ext cx="3790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三类知识源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8552CC-FB6B-4B76-BF79-FA63E26A791D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3790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course / project / external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分开管理，便于教师控制来源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FFFC633-300E-442D-A365-93971CB9761F}"/>
              </a:ext>
            </a:extLst>
          </p:cNvPr>
          <p:cNvSpPr>
            <a:spLocks noGrp="1"/>
          </p:cNvSpPr>
          <p:nvPr/>
        </p:nvSpPr>
        <p:spPr>
          <a:xfrm>
            <a:off x="6191250" y="3203120"/>
            <a:ext cx="4191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2D0D3A2-ADFC-4F68-BEA6-079DEDC3D9B9}"/>
              </a:ext>
            </a:extLst>
          </p:cNvPr>
          <p:cNvSpPr>
            <a:spLocks noGrp="1"/>
          </p:cNvSpPr>
          <p:nvPr/>
        </p:nvSpPr>
        <p:spPr>
          <a:xfrm>
            <a:off x="6191250" y="320312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20A54C-2691-4946-9EB3-6522F0863EDC}"/>
              </a:ext>
            </a:extLst>
          </p:cNvPr>
          <p:cNvSpPr>
            <a:spLocks noGrp="1"/>
          </p:cNvSpPr>
          <p:nvPr/>
        </p:nvSpPr>
        <p:spPr>
          <a:xfrm>
            <a:off x="6419850" y="3219450"/>
            <a:ext cx="3790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强制引用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78A7DA-D4A7-4B83-95EC-FFC8E1D69E58}"/>
              </a:ext>
            </a:extLst>
          </p:cNvPr>
          <p:cNvSpPr>
            <a:spLocks noGrp="1"/>
          </p:cNvSpPr>
          <p:nvPr/>
        </p:nvSpPr>
        <p:spPr>
          <a:xfrm>
            <a:off x="6419850" y="3619500"/>
            <a:ext cx="3790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回答设计问题时必须关联可查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chunk，不接受</a:t>
            </a:r>
            <a:r>
              <a:rPr lang="zh-CN" altLang="en-US"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幻觉与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空口建议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720A065-CE75-4102-A0EC-4BE86BE7D89A}"/>
              </a:ext>
            </a:extLst>
          </p:cNvPr>
          <p:cNvSpPr>
            <a:spLocks noGrp="1"/>
          </p:cNvSpPr>
          <p:nvPr/>
        </p:nvSpPr>
        <p:spPr>
          <a:xfrm>
            <a:off x="6191250" y="4418358"/>
            <a:ext cx="4191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32735C4-5036-4E6F-93E3-9BDFC8E96D7B}"/>
              </a:ext>
            </a:extLst>
          </p:cNvPr>
          <p:cNvSpPr>
            <a:spLocks noGrp="1"/>
          </p:cNvSpPr>
          <p:nvPr/>
        </p:nvSpPr>
        <p:spPr>
          <a:xfrm>
            <a:off x="6191250" y="4418358"/>
            <a:ext cx="76200" cy="87630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547C26-A070-4DE5-9C5C-7D30D132CB47}"/>
              </a:ext>
            </a:extLst>
          </p:cNvPr>
          <p:cNvSpPr>
            <a:spLocks noGrp="1"/>
          </p:cNvSpPr>
          <p:nvPr/>
        </p:nvSpPr>
        <p:spPr>
          <a:xfrm>
            <a:off x="6419850" y="4438650"/>
            <a:ext cx="3790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课堂复盘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84FE9F-02C4-4F50-9BDD-095944D6225E}"/>
              </a:ext>
            </a:extLst>
          </p:cNvPr>
          <p:cNvSpPr>
            <a:spLocks noGrp="1"/>
          </p:cNvSpPr>
          <p:nvPr/>
        </p:nvSpPr>
        <p:spPr>
          <a:xfrm>
            <a:off x="6419850" y="4838700"/>
            <a:ext cx="3790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搜索热点反映学生普遍困惑，辅助教师调整讲解。</a:t>
            </a:r>
          </a:p>
        </p:txBody>
      </p:sp>
    </p:spTree>
    <p:extLst>
      <p:ext uri="{BB962C8B-B14F-4D97-AF65-F5344CB8AC3E}">
        <p14:creationId xmlns:p14="http://schemas.microsoft.com/office/powerpoint/2010/main" val="1207326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7E2E1F2-71AB-4CFB-B987-E0B6B5B444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EF19DD5-7342-4CC5-9862-79AC289A7603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59E9B15-4AB3-4410-B16E-70BA38B5C18E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0931AC-F49A-40EC-8D14-29518AC053E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自动调试：把黑盒 QEMU 变成证据链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C0A118-E4BE-41EE-8FB9-924256695DAC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错误日志、插桩、QMP/GDB、可视化报告串成闭环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7B25DBC-9D7B-4F5B-B2D7-C2FD61ABA189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FABBA-D111-4407-8FF1-5583B7F9617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C55D1F-B82E-404F-9B58-6B935462169B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73BBAD-A3EA-4034-81C7-980A0D8ADC04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2490788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B5C77-39B0-46A4-A65F-6E2F884A513C}"/>
              </a:ext>
            </a:extLst>
          </p:cNvPr>
          <p:cNvSpPr>
            <a:spLocks noGrp="1"/>
          </p:cNvSpPr>
          <p:nvPr/>
        </p:nvSpPr>
        <p:spPr>
          <a:xfrm>
            <a:off x="990600" y="2057400"/>
            <a:ext cx="222408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提取错误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5EDA60-2759-4E4F-8BFC-F4DD5B7127DB}"/>
              </a:ext>
            </a:extLst>
          </p:cNvPr>
          <p:cNvSpPr>
            <a:spLocks noGrp="1"/>
          </p:cNvSpPr>
          <p:nvPr/>
        </p:nvSpPr>
        <p:spPr>
          <a:xfrm>
            <a:off x="1009650" y="2438400"/>
            <a:ext cx="218598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build / qemu log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4E4FD7-6A33-4A34-9257-59FE950B3656}"/>
              </a:ext>
            </a:extLst>
          </p:cNvPr>
          <p:cNvSpPr>
            <a:spLocks noGrp="1"/>
          </p:cNvSpPr>
          <p:nvPr/>
        </p:nvSpPr>
        <p:spPr>
          <a:xfrm>
            <a:off x="3376613" y="2314575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253A841-32A9-4E0C-BE68-37BC41F38749}"/>
              </a:ext>
            </a:extLst>
          </p:cNvPr>
          <p:cNvSpPr>
            <a:spLocks noGrp="1"/>
          </p:cNvSpPr>
          <p:nvPr/>
        </p:nvSpPr>
        <p:spPr>
          <a:xfrm>
            <a:off x="3519488" y="1885950"/>
            <a:ext cx="2490788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FE9C30-5DB4-498D-ABFB-DEE8C61F609C}"/>
              </a:ext>
            </a:extLst>
          </p:cNvPr>
          <p:cNvSpPr>
            <a:spLocks noGrp="1"/>
          </p:cNvSpPr>
          <p:nvPr/>
        </p:nvSpPr>
        <p:spPr>
          <a:xfrm>
            <a:off x="3652838" y="2057400"/>
            <a:ext cx="222408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推断原因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768524-0967-4B69-8F71-85D93A286C8C}"/>
              </a:ext>
            </a:extLst>
          </p:cNvPr>
          <p:cNvSpPr>
            <a:spLocks noGrp="1"/>
          </p:cNvSpPr>
          <p:nvPr/>
        </p:nvSpPr>
        <p:spPr>
          <a:xfrm>
            <a:off x="3671888" y="2438400"/>
            <a:ext cx="218598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spec + evidence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FF1F8-CDFD-4F78-8CAF-863EF505313B}"/>
              </a:ext>
            </a:extLst>
          </p:cNvPr>
          <p:cNvSpPr>
            <a:spLocks noGrp="1"/>
          </p:cNvSpPr>
          <p:nvPr/>
        </p:nvSpPr>
        <p:spPr>
          <a:xfrm>
            <a:off x="6038850" y="2314575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71F9547-94A1-4CAE-A0F2-B0BD63953927}"/>
              </a:ext>
            </a:extLst>
          </p:cNvPr>
          <p:cNvSpPr>
            <a:spLocks noGrp="1"/>
          </p:cNvSpPr>
          <p:nvPr/>
        </p:nvSpPr>
        <p:spPr>
          <a:xfrm>
            <a:off x="6181725" y="1885950"/>
            <a:ext cx="2490788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D95DAC-E063-4371-A1FA-2C2DCFBCCAA2}"/>
              </a:ext>
            </a:extLst>
          </p:cNvPr>
          <p:cNvSpPr>
            <a:spLocks noGrp="1"/>
          </p:cNvSpPr>
          <p:nvPr/>
        </p:nvSpPr>
        <p:spPr>
          <a:xfrm>
            <a:off x="6315075" y="2057400"/>
            <a:ext cx="222408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隔离插桩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2B8CFD-C69D-42F8-A92A-E57C0CF63959}"/>
              </a:ext>
            </a:extLst>
          </p:cNvPr>
          <p:cNvSpPr>
            <a:spLocks noGrp="1"/>
          </p:cNvSpPr>
          <p:nvPr/>
        </p:nvSpPr>
        <p:spPr>
          <a:xfrm>
            <a:off x="6334125" y="2438400"/>
            <a:ext cx="218598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worktree / trace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B1099D-A092-43C8-9D2B-CB7C73C963BA}"/>
              </a:ext>
            </a:extLst>
          </p:cNvPr>
          <p:cNvSpPr>
            <a:spLocks noGrp="1"/>
          </p:cNvSpPr>
          <p:nvPr/>
        </p:nvSpPr>
        <p:spPr>
          <a:xfrm>
            <a:off x="8701088" y="2314575"/>
            <a:ext cx="11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0FDEC42-1147-46D8-A6DE-BE97BBF53F6C}"/>
              </a:ext>
            </a:extLst>
          </p:cNvPr>
          <p:cNvSpPr>
            <a:spLocks noGrp="1"/>
          </p:cNvSpPr>
          <p:nvPr/>
        </p:nvSpPr>
        <p:spPr>
          <a:xfrm>
            <a:off x="8843963" y="1885950"/>
            <a:ext cx="2490788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334A74-3C7A-4EB0-86FE-D5FC60493A1E}"/>
              </a:ext>
            </a:extLst>
          </p:cNvPr>
          <p:cNvSpPr>
            <a:spLocks noGrp="1"/>
          </p:cNvSpPr>
          <p:nvPr/>
        </p:nvSpPr>
        <p:spPr>
          <a:xfrm>
            <a:off x="8977313" y="2057400"/>
            <a:ext cx="222408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诊断报告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840A7A-0113-4014-A3C5-A93D1889D6D2}"/>
              </a:ext>
            </a:extLst>
          </p:cNvPr>
          <p:cNvSpPr>
            <a:spLocks noGrp="1"/>
          </p:cNvSpPr>
          <p:nvPr/>
        </p:nvSpPr>
        <p:spPr>
          <a:xfrm>
            <a:off x="8996363" y="2438400"/>
            <a:ext cx="218598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root cause + fix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CA262C-71EC-41B1-947A-D411C4F999A4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3086100" cy="357188"/>
          </a:xfrm>
          <a:prstGeom prst="roundRect">
            <a:avLst>
              <a:gd name="adj" fmla="val 2133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9C606-D7E8-48CA-B029-C2A8F9D074E6}"/>
              </a:ext>
            </a:extLst>
          </p:cNvPr>
          <p:cNvSpPr>
            <a:spLocks noGrp="1"/>
          </p:cNvSpPr>
          <p:nvPr/>
        </p:nvSpPr>
        <p:spPr>
          <a:xfrm>
            <a:off x="1809750" y="3943350"/>
            <a:ext cx="28956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已验证能力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C7EAD40-E4DC-43FA-BE32-B61CD8AC53CF}"/>
              </a:ext>
            </a:extLst>
          </p:cNvPr>
          <p:cNvSpPr>
            <a:spLocks noGrp="1"/>
          </p:cNvSpPr>
          <p:nvPr/>
        </p:nvSpPr>
        <p:spPr>
          <a:xfrm>
            <a:off x="4800600" y="3857625"/>
            <a:ext cx="5486400" cy="357188"/>
          </a:xfrm>
          <a:prstGeom prst="roundRect">
            <a:avLst>
              <a:gd name="adj" fmla="val 2133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91B49D1-3F4B-41A8-B747-DE9AC21DDFC7}"/>
              </a:ext>
            </a:extLst>
          </p:cNvPr>
          <p:cNvSpPr>
            <a:spLocks noGrp="1"/>
          </p:cNvSpPr>
          <p:nvPr/>
        </p:nvSpPr>
        <p:spPr>
          <a:xfrm>
            <a:off x="4895850" y="3943350"/>
            <a:ext cx="52959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学生复刻记录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E6029F6-6C2E-4D4A-93B5-86FB758513D0}"/>
              </a:ext>
            </a:extLst>
          </p:cNvPr>
          <p:cNvSpPr>
            <a:spLocks noGrp="1"/>
          </p:cNvSpPr>
          <p:nvPr/>
        </p:nvSpPr>
        <p:spPr>
          <a:xfrm>
            <a:off x="1714500" y="4214813"/>
            <a:ext cx="3086100" cy="35718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388F02-995F-4F76-974E-92849553D0F7}"/>
              </a:ext>
            </a:extLst>
          </p:cNvPr>
          <p:cNvSpPr>
            <a:spLocks noGrp="1"/>
          </p:cNvSpPr>
          <p:nvPr/>
        </p:nvSpPr>
        <p:spPr>
          <a:xfrm>
            <a:off x="1809750" y="4300538"/>
            <a:ext cx="28956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QEMU trace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BB00B72-619C-4764-832C-74CD7E34DF96}"/>
              </a:ext>
            </a:extLst>
          </p:cNvPr>
          <p:cNvSpPr>
            <a:spLocks noGrp="1"/>
          </p:cNvSpPr>
          <p:nvPr/>
        </p:nvSpPr>
        <p:spPr>
          <a:xfrm>
            <a:off x="4800600" y="4214813"/>
            <a:ext cx="5486400" cy="357188"/>
          </a:xfrm>
          <a:prstGeom prst="roundRect">
            <a:avLst>
              <a:gd name="adj" fmla="val 2133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BAF33C2-D5AB-442B-9069-4873095FF835}"/>
              </a:ext>
            </a:extLst>
          </p:cNvPr>
          <p:cNvSpPr>
            <a:spLocks noGrp="1"/>
          </p:cNvSpPr>
          <p:nvPr/>
        </p:nvSpPr>
        <p:spPr>
          <a:xfrm>
            <a:off x="4895850" y="4300538"/>
            <a:ext cx="52959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boot-banner trace </a:t>
            </a:r>
            <a:r>
              <a:rPr sz="1275" b="1" dirty="0" err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成功生成</a:t>
            </a:r>
            <a:endParaRPr sz="1275" b="1" dirty="0">
              <a:solidFill>
                <a:srgbClr val="107C1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C720C58-7131-4C13-BCD6-458D947B76EC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3086100" cy="35718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FFB87F5-5F3D-4042-B0DE-03D5C0470413}"/>
              </a:ext>
            </a:extLst>
          </p:cNvPr>
          <p:cNvSpPr>
            <a:spLocks noGrp="1"/>
          </p:cNvSpPr>
          <p:nvPr/>
        </p:nvSpPr>
        <p:spPr>
          <a:xfrm>
            <a:off x="1809750" y="4657725"/>
            <a:ext cx="28956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插桩测试</a:t>
            </a:r>
            <a:endParaRPr sz="1275" b="0" dirty="0">
              <a:solidFill>
                <a:srgbClr val="10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2AF8B7E-A011-4B78-A523-B5450FBF3D9F}"/>
              </a:ext>
            </a:extLst>
          </p:cNvPr>
          <p:cNvSpPr>
            <a:spLocks noGrp="1"/>
          </p:cNvSpPr>
          <p:nvPr/>
        </p:nvSpPr>
        <p:spPr>
          <a:xfrm>
            <a:off x="4800600" y="4572000"/>
            <a:ext cx="5486400" cy="357188"/>
          </a:xfrm>
          <a:prstGeom prst="roundRect">
            <a:avLst>
              <a:gd name="adj" fmla="val 2133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1D3D509-282E-4481-BA8C-7A840A167C53}"/>
              </a:ext>
            </a:extLst>
          </p:cNvPr>
          <p:cNvSpPr>
            <a:spLocks noGrp="1"/>
          </p:cNvSpPr>
          <p:nvPr/>
        </p:nvSpPr>
        <p:spPr>
          <a:xfrm>
            <a:off x="4895850" y="4657725"/>
            <a:ext cx="52959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 dirty="0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生成补丁添加了更多日志输出</a:t>
            </a:r>
            <a:endParaRPr sz="1275" b="1" dirty="0">
              <a:solidFill>
                <a:srgbClr val="107C1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20830C0-9E6B-4D9D-87DA-73EF2153B9A2}"/>
              </a:ext>
            </a:extLst>
          </p:cNvPr>
          <p:cNvSpPr>
            <a:spLocks noGrp="1"/>
          </p:cNvSpPr>
          <p:nvPr/>
        </p:nvSpPr>
        <p:spPr>
          <a:xfrm>
            <a:off x="1714500" y="4929188"/>
            <a:ext cx="3086100" cy="357188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12346B3-70A2-41E3-A1BA-711F52CE6DA9}"/>
              </a:ext>
            </a:extLst>
          </p:cNvPr>
          <p:cNvSpPr>
            <a:spLocks noGrp="1"/>
          </p:cNvSpPr>
          <p:nvPr/>
        </p:nvSpPr>
        <p:spPr>
          <a:xfrm>
            <a:off x="1809750" y="5014913"/>
            <a:ext cx="28956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可视化 HTML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565D585-CBC5-4287-BB4B-E46E07AE74C6}"/>
              </a:ext>
            </a:extLst>
          </p:cNvPr>
          <p:cNvSpPr>
            <a:spLocks noGrp="1"/>
          </p:cNvSpPr>
          <p:nvPr/>
        </p:nvSpPr>
        <p:spPr>
          <a:xfrm>
            <a:off x="4800600" y="4929188"/>
            <a:ext cx="5486400" cy="357188"/>
          </a:xfrm>
          <a:prstGeom prst="roundRect">
            <a:avLst>
              <a:gd name="adj" fmla="val 2133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4A6985-587D-4BF6-BDFA-5DC9353C2E5B}"/>
              </a:ext>
            </a:extLst>
          </p:cNvPr>
          <p:cNvSpPr>
            <a:spLocks noGrp="1"/>
          </p:cNvSpPr>
          <p:nvPr/>
        </p:nvSpPr>
        <p:spPr>
          <a:xfrm>
            <a:off x="4895850" y="5014913"/>
            <a:ext cx="5295900" cy="242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Debug output 含交互式错误解释页面</a:t>
            </a:r>
          </a:p>
        </p:txBody>
      </p:sp>
    </p:spTree>
    <p:extLst>
      <p:ext uri="{BB962C8B-B14F-4D97-AF65-F5344CB8AC3E}">
        <p14:creationId xmlns:p14="http://schemas.microsoft.com/office/powerpoint/2010/main" val="179247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43C9882-73E0-45E5-9730-F524A04D6F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B3C4A03-82DB-428D-B290-295BBAAA9634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80ACE16-ECB3-48E1-93F3-8E92A037732A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81D74-39F2-452C-914E-62796F4086F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教师线：从代码检查员到设计导师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92389D-ED2B-47C7-9A16-2B976827C51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Agent 扛重复劳动，教师聚焦设计判断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A53653A-2215-4A99-8962-80D37523FEA0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55C662-E45E-4DC5-9999-4A9B2A82E00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34F733-E983-4BA0-A91D-F7BA1200CD12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E0963C0-DAFF-48DB-9ECF-2A24641D08BF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857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2C54ED-B81C-4510-B6EC-BA52DB654426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76200" cy="17145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21B753-BC79-4326-A38E-296845D6E6C4}"/>
              </a:ext>
            </a:extLst>
          </p:cNvPr>
          <p:cNvSpPr>
            <a:spLocks noGrp="1"/>
          </p:cNvSpPr>
          <p:nvPr/>
        </p:nvSpPr>
        <p:spPr>
          <a:xfrm>
            <a:off x="1257300" y="2133600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批改作业</a:t>
            </a:r>
            <a:r>
              <a:rPr sz="1650" b="1" dirty="0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650" b="1" dirty="0" err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设计审核</a:t>
            </a:r>
            <a:endParaRPr sz="1650" b="1" dirty="0">
              <a:solidFill>
                <a:srgbClr val="0078D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0B2C0E-EA4C-49FB-AB6A-E46D52AC4380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2457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看 ArchitectureSlice、ADR、OperationContract 是否表达设计意图。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5D702A-CFD7-45E7-9FDE-554B1433E9F4}"/>
              </a:ext>
            </a:extLst>
          </p:cNvPr>
          <p:cNvSpPr>
            <a:spLocks noGrp="1"/>
          </p:cNvSpPr>
          <p:nvPr/>
        </p:nvSpPr>
        <p:spPr>
          <a:xfrm>
            <a:off x="4667250" y="1943100"/>
            <a:ext cx="2857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940D7F3-D527-4A23-AFC4-0E10EAFDAA53}"/>
              </a:ext>
            </a:extLst>
          </p:cNvPr>
          <p:cNvSpPr>
            <a:spLocks noGrp="1"/>
          </p:cNvSpPr>
          <p:nvPr/>
        </p:nvSpPr>
        <p:spPr>
          <a:xfrm>
            <a:off x="4667250" y="1943100"/>
            <a:ext cx="76200" cy="17145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A43ED4-89C3-47A5-80C1-95FF6763D2D7}"/>
              </a:ext>
            </a:extLst>
          </p:cNvPr>
          <p:cNvSpPr>
            <a:spLocks noGrp="1"/>
          </p:cNvSpPr>
          <p:nvPr/>
        </p:nvSpPr>
        <p:spPr>
          <a:xfrm>
            <a:off x="4895850" y="2133600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重复工作</a:t>
            </a:r>
            <a:r>
              <a:rPr sz="1650" b="1" dirty="0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650" b="1" dirty="0" err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制定</a:t>
            </a:r>
            <a:r>
              <a:rPr lang="zh-CN" altLang="en-US" sz="1650" b="1" dirty="0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规则</a:t>
            </a:r>
            <a:endParaRPr sz="1650" b="1" dirty="0">
              <a:solidFill>
                <a:srgbClr val="107C1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D0E7C5-B776-4D76-A78A-FBA690ACDCF3}"/>
              </a:ext>
            </a:extLst>
          </p:cNvPr>
          <p:cNvSpPr>
            <a:spLocks noGrp="1"/>
          </p:cNvSpPr>
          <p:nvPr/>
        </p:nvSpPr>
        <p:spPr>
          <a:xfrm>
            <a:off x="4895850" y="2533650"/>
            <a:ext cx="2457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StageGate、AI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Policy、Rubric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和可见性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B1B0599-20B0-478B-80AB-0E39F1DDDCFD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2857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01658-2FF9-4A96-B91D-B71031E254C2}"/>
              </a:ext>
            </a:extLst>
          </p:cNvPr>
          <p:cNvSpPr>
            <a:spLocks noGrp="1"/>
          </p:cNvSpPr>
          <p:nvPr/>
        </p:nvSpPr>
        <p:spPr>
          <a:xfrm>
            <a:off x="8305800" y="1943100"/>
            <a:ext cx="76200" cy="171450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2C6C8E-AFE0-4752-A854-EE373BA02953}"/>
              </a:ext>
            </a:extLst>
          </p:cNvPr>
          <p:cNvSpPr>
            <a:spLocks noGrp="1"/>
          </p:cNvSpPr>
          <p:nvPr/>
        </p:nvSpPr>
        <p:spPr>
          <a:xfrm>
            <a:off x="8534400" y="2133600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终结评价 -&gt; 过程指导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535C2F-D7EF-452A-A366-F195248FDBF0}"/>
              </a:ext>
            </a:extLst>
          </p:cNvPr>
          <p:cNvSpPr>
            <a:spLocks noGrp="1"/>
          </p:cNvSpPr>
          <p:nvPr/>
        </p:nvSpPr>
        <p:spPr>
          <a:xfrm>
            <a:off x="8534400" y="2533650"/>
            <a:ext cx="24574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9 阶段证据链追踪，问题早发现、早纠正。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51E0B3-222B-4C0C-8051-5BF95774187F}"/>
              </a:ext>
            </a:extLst>
          </p:cNvPr>
          <p:cNvSpPr>
            <a:spLocks noGrp="1"/>
          </p:cNvSpPr>
          <p:nvPr/>
        </p:nvSpPr>
        <p:spPr>
          <a:xfrm>
            <a:off x="1276350" y="4572000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价值不在少批几行代码，而在把教师判断力放回设计教育。</a:t>
            </a:r>
          </a:p>
        </p:txBody>
      </p:sp>
    </p:spTree>
    <p:extLst>
      <p:ext uri="{BB962C8B-B14F-4D97-AF65-F5344CB8AC3E}">
        <p14:creationId xmlns:p14="http://schemas.microsoft.com/office/powerpoint/2010/main" val="496499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29DFFF9-6BC6-4061-8358-0EDA8FE00E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65A629A-1AE6-40EE-AAA9-6B4144E01A08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163A42A-61DF-4EDA-B063-59B123A1A70B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5F8518-FAE3-4C3D-9673-D61426C654A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六阶段审核表：过程性评价落地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98DB82-A37D-43BD-A931-C4E48D7C6BCF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每个阶段看不同设计证据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AFAB273-28EF-4043-9208-485AD881304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306589-ADD0-44EC-B750-792A3740ED2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B5790C-5D2D-4C38-AAD0-FE645DB2DBE5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0DCA096-D649-45BB-809D-E4532FA73AB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601468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2BA944-B8EF-4208-8AD7-3ED997A22466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241096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8A4A02B-CD84-4DEE-B147-4E5527FC2CC3}"/>
              </a:ext>
            </a:extLst>
          </p:cNvPr>
          <p:cNvSpPr>
            <a:spLocks noGrp="1"/>
          </p:cNvSpPr>
          <p:nvPr/>
        </p:nvSpPr>
        <p:spPr>
          <a:xfrm>
            <a:off x="3287268" y="1676400"/>
            <a:ext cx="4986147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B3B35F-10A7-4DCA-8B81-804C8F61543B}"/>
              </a:ext>
            </a:extLst>
          </p:cNvPr>
          <p:cNvSpPr>
            <a:spLocks noGrp="1"/>
          </p:cNvSpPr>
          <p:nvPr/>
        </p:nvSpPr>
        <p:spPr>
          <a:xfrm>
            <a:off x="3382518" y="1762125"/>
            <a:ext cx="479564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教师看什么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F5245C-EC3C-4ECC-B798-C441415E1F64}"/>
              </a:ext>
            </a:extLst>
          </p:cNvPr>
          <p:cNvSpPr>
            <a:spLocks noGrp="1"/>
          </p:cNvSpPr>
          <p:nvPr/>
        </p:nvSpPr>
        <p:spPr>
          <a:xfrm>
            <a:off x="8273415" y="1676400"/>
            <a:ext cx="3251835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ED8543-E34D-40A8-A6DB-6492AC39DA99}"/>
              </a:ext>
            </a:extLst>
          </p:cNvPr>
          <p:cNvSpPr>
            <a:spLocks noGrp="1"/>
          </p:cNvSpPr>
          <p:nvPr/>
        </p:nvSpPr>
        <p:spPr>
          <a:xfrm>
            <a:off x="8368665" y="1762125"/>
            <a:ext cx="3061335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传统对比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6A29222-D4A8-4C0B-904F-6B011F21172C}"/>
              </a:ext>
            </a:extLst>
          </p:cNvPr>
          <p:cNvSpPr>
            <a:spLocks noGrp="1"/>
          </p:cNvSpPr>
          <p:nvPr/>
        </p:nvSpPr>
        <p:spPr>
          <a:xfrm>
            <a:off x="685800" y="2263775"/>
            <a:ext cx="260146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E107D7-6C10-489D-9661-FBDB8471C8E2}"/>
              </a:ext>
            </a:extLst>
          </p:cNvPr>
          <p:cNvSpPr>
            <a:spLocks noGrp="1"/>
          </p:cNvSpPr>
          <p:nvPr/>
        </p:nvSpPr>
        <p:spPr>
          <a:xfrm>
            <a:off x="781050" y="2349500"/>
            <a:ext cx="241096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architecture-seed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CF638B7-33E9-43C5-8C59-2E0EA3349F2F}"/>
              </a:ext>
            </a:extLst>
          </p:cNvPr>
          <p:cNvSpPr>
            <a:spLocks noGrp="1"/>
          </p:cNvSpPr>
          <p:nvPr/>
        </p:nvSpPr>
        <p:spPr>
          <a:xfrm>
            <a:off x="3287268" y="2263775"/>
            <a:ext cx="498614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00A220-30DA-4F5F-8A45-25C993E1C8DC}"/>
              </a:ext>
            </a:extLst>
          </p:cNvPr>
          <p:cNvSpPr>
            <a:spLocks noGrp="1"/>
          </p:cNvSpPr>
          <p:nvPr/>
        </p:nvSpPr>
        <p:spPr>
          <a:xfrm>
            <a:off x="3382518" y="2349500"/>
            <a:ext cx="479564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目标范围、参考系统、非目标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483D747-A295-48AC-B5B4-5393CBADBC04}"/>
              </a:ext>
            </a:extLst>
          </p:cNvPr>
          <p:cNvSpPr>
            <a:spLocks noGrp="1"/>
          </p:cNvSpPr>
          <p:nvPr/>
        </p:nvSpPr>
        <p:spPr>
          <a:xfrm>
            <a:off x="8273415" y="2263775"/>
            <a:ext cx="3251835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67A33C-34A4-417E-9126-E30456AD2EEE}"/>
              </a:ext>
            </a:extLst>
          </p:cNvPr>
          <p:cNvSpPr>
            <a:spLocks noGrp="1"/>
          </p:cNvSpPr>
          <p:nvPr/>
        </p:nvSpPr>
        <p:spPr>
          <a:xfrm>
            <a:off x="8368665" y="2349500"/>
            <a:ext cx="3061335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传统中不存在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16CE30D-1996-4CAB-937F-3F46C831947E}"/>
              </a:ext>
            </a:extLst>
          </p:cNvPr>
          <p:cNvSpPr>
            <a:spLocks noGrp="1"/>
          </p:cNvSpPr>
          <p:nvPr/>
        </p:nvSpPr>
        <p:spPr>
          <a:xfrm>
            <a:off x="685800" y="2851150"/>
            <a:ext cx="260146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187609-942E-4403-9D67-1CB405870E21}"/>
              </a:ext>
            </a:extLst>
          </p:cNvPr>
          <p:cNvSpPr>
            <a:spLocks noGrp="1"/>
          </p:cNvSpPr>
          <p:nvPr/>
        </p:nvSpPr>
        <p:spPr>
          <a:xfrm>
            <a:off x="781050" y="2936875"/>
            <a:ext cx="241096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boot-minimum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E2FBD5-EA17-4CB1-9E7E-5B007E6FF9E2}"/>
              </a:ext>
            </a:extLst>
          </p:cNvPr>
          <p:cNvSpPr>
            <a:spLocks noGrp="1"/>
          </p:cNvSpPr>
          <p:nvPr/>
        </p:nvSpPr>
        <p:spPr>
          <a:xfrm>
            <a:off x="3287268" y="2851150"/>
            <a:ext cx="498614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3904F23-9AE7-4873-9116-3E5ECABDC755}"/>
              </a:ext>
            </a:extLst>
          </p:cNvPr>
          <p:cNvSpPr>
            <a:spLocks noGrp="1"/>
          </p:cNvSpPr>
          <p:nvPr/>
        </p:nvSpPr>
        <p:spPr>
          <a:xfrm>
            <a:off x="3382518" y="2936875"/>
            <a:ext cx="479564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启动链设计、可观察性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AF49F3-2F7F-4FAC-A677-82148AD2169A}"/>
              </a:ext>
            </a:extLst>
          </p:cNvPr>
          <p:cNvSpPr>
            <a:spLocks noGrp="1"/>
          </p:cNvSpPr>
          <p:nvPr/>
        </p:nvSpPr>
        <p:spPr>
          <a:xfrm>
            <a:off x="8273415" y="2851150"/>
            <a:ext cx="3251835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0F5FC43-17A4-4131-AEBA-77D9F973BDF1}"/>
              </a:ext>
            </a:extLst>
          </p:cNvPr>
          <p:cNvSpPr>
            <a:spLocks noGrp="1"/>
          </p:cNvSpPr>
          <p:nvPr/>
        </p:nvSpPr>
        <p:spPr>
          <a:xfrm>
            <a:off x="8368665" y="2936875"/>
            <a:ext cx="3061335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只看 Hello World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D527B57-8BA9-4B25-8DFB-D459C6329D5E}"/>
              </a:ext>
            </a:extLst>
          </p:cNvPr>
          <p:cNvSpPr>
            <a:spLocks noGrp="1"/>
          </p:cNvSpPr>
          <p:nvPr/>
        </p:nvSpPr>
        <p:spPr>
          <a:xfrm>
            <a:off x="685800" y="3438525"/>
            <a:ext cx="260146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0EB8DC-CB86-4167-A01C-D967CD5C5FBA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241096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memory-management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715A553-5974-4E85-8A4C-5FCBB6B780B6}"/>
              </a:ext>
            </a:extLst>
          </p:cNvPr>
          <p:cNvSpPr>
            <a:spLocks noGrp="1"/>
          </p:cNvSpPr>
          <p:nvPr/>
        </p:nvSpPr>
        <p:spPr>
          <a:xfrm>
            <a:off x="3287268" y="3438525"/>
            <a:ext cx="498614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DDB1A3-D301-48B4-8471-8A9C66E539B3}"/>
              </a:ext>
            </a:extLst>
          </p:cNvPr>
          <p:cNvSpPr>
            <a:spLocks noGrp="1"/>
          </p:cNvSpPr>
          <p:nvPr/>
        </p:nvSpPr>
        <p:spPr>
          <a:xfrm>
            <a:off x="3382518" y="3524250"/>
            <a:ext cx="479564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内存模型自洽、不变量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A59DDFF-B79E-42CA-8EAD-1F1CF2876250}"/>
              </a:ext>
            </a:extLst>
          </p:cNvPr>
          <p:cNvSpPr>
            <a:spLocks noGrp="1"/>
          </p:cNvSpPr>
          <p:nvPr/>
        </p:nvSpPr>
        <p:spPr>
          <a:xfrm>
            <a:off x="8273415" y="3438525"/>
            <a:ext cx="3251835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923A430-6AB1-4C38-AC98-9DF908AD1D13}"/>
              </a:ext>
            </a:extLst>
          </p:cNvPr>
          <p:cNvSpPr>
            <a:spLocks noGrp="1"/>
          </p:cNvSpPr>
          <p:nvPr/>
        </p:nvSpPr>
        <p:spPr>
          <a:xfrm>
            <a:off x="8368665" y="3524250"/>
            <a:ext cx="3061335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只看测试过没过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F984889-323B-496E-8D61-827AC9819A8A}"/>
              </a:ext>
            </a:extLst>
          </p:cNvPr>
          <p:cNvSpPr>
            <a:spLocks noGrp="1"/>
          </p:cNvSpPr>
          <p:nvPr/>
        </p:nvSpPr>
        <p:spPr>
          <a:xfrm>
            <a:off x="685800" y="4025900"/>
            <a:ext cx="260146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96DD93-7D16-4C41-ACBF-90E59F5860E7}"/>
              </a:ext>
            </a:extLst>
          </p:cNvPr>
          <p:cNvSpPr>
            <a:spLocks noGrp="1"/>
          </p:cNvSpPr>
          <p:nvPr/>
        </p:nvSpPr>
        <p:spPr>
          <a:xfrm>
            <a:off x="781050" y="4111625"/>
            <a:ext cx="241096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syscall-ipc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4B74101-5DAD-47E6-B07E-F09FEC56A576}"/>
              </a:ext>
            </a:extLst>
          </p:cNvPr>
          <p:cNvSpPr>
            <a:spLocks noGrp="1"/>
          </p:cNvSpPr>
          <p:nvPr/>
        </p:nvSpPr>
        <p:spPr>
          <a:xfrm>
            <a:off x="3287268" y="4025900"/>
            <a:ext cx="498614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A2A8DE9-E16E-41EF-A6BB-15FC4920D91C}"/>
              </a:ext>
            </a:extLst>
          </p:cNvPr>
          <p:cNvSpPr>
            <a:spLocks noGrp="1"/>
          </p:cNvSpPr>
          <p:nvPr/>
        </p:nvSpPr>
        <p:spPr>
          <a:xfrm>
            <a:off x="3382518" y="4111625"/>
            <a:ext cx="479564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ABI、错误语义、权限边界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C393024-4698-45E4-BF2A-B6C452686919}"/>
              </a:ext>
            </a:extLst>
          </p:cNvPr>
          <p:cNvSpPr>
            <a:spLocks noGrp="1"/>
          </p:cNvSpPr>
          <p:nvPr/>
        </p:nvSpPr>
        <p:spPr>
          <a:xfrm>
            <a:off x="8273415" y="4025900"/>
            <a:ext cx="3251835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469708F-FCA2-4E28-ADC7-4B73DA1662D1}"/>
              </a:ext>
            </a:extLst>
          </p:cNvPr>
          <p:cNvSpPr>
            <a:spLocks noGrp="1"/>
          </p:cNvSpPr>
          <p:nvPr/>
        </p:nvSpPr>
        <p:spPr>
          <a:xfrm>
            <a:off x="8368665" y="4111625"/>
            <a:ext cx="3061335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只看实现细节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DCCC421-12DC-44B0-B2C8-734F39C34E0A}"/>
              </a:ext>
            </a:extLst>
          </p:cNvPr>
          <p:cNvSpPr>
            <a:spLocks noGrp="1"/>
          </p:cNvSpPr>
          <p:nvPr/>
        </p:nvSpPr>
        <p:spPr>
          <a:xfrm>
            <a:off x="685800" y="4613275"/>
            <a:ext cx="260146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34DAC09-6B8F-4340-B565-988F9C254FEC}"/>
              </a:ext>
            </a:extLst>
          </p:cNvPr>
          <p:cNvSpPr>
            <a:spLocks noGrp="1"/>
          </p:cNvSpPr>
          <p:nvPr/>
        </p:nvSpPr>
        <p:spPr>
          <a:xfrm>
            <a:off x="781050" y="4699000"/>
            <a:ext cx="241096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final-synthesis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CF83DC6-658F-495D-AA9D-0BD620E9E167}"/>
              </a:ext>
            </a:extLst>
          </p:cNvPr>
          <p:cNvSpPr>
            <a:spLocks noGrp="1"/>
          </p:cNvSpPr>
          <p:nvPr/>
        </p:nvSpPr>
        <p:spPr>
          <a:xfrm>
            <a:off x="3287268" y="4613275"/>
            <a:ext cx="498614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3B0510D-6AAE-4B26-B0AE-6C928CEF94B3}"/>
              </a:ext>
            </a:extLst>
          </p:cNvPr>
          <p:cNvSpPr>
            <a:spLocks noGrp="1"/>
          </p:cNvSpPr>
          <p:nvPr/>
        </p:nvSpPr>
        <p:spPr>
          <a:xfrm>
            <a:off x="3382518" y="4699000"/>
            <a:ext cx="479564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设计可追溯、证据完整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0CA53D2-E49E-40EC-9392-72E19150B12F}"/>
              </a:ext>
            </a:extLst>
          </p:cNvPr>
          <p:cNvSpPr>
            <a:spLocks noGrp="1"/>
          </p:cNvSpPr>
          <p:nvPr/>
        </p:nvSpPr>
        <p:spPr>
          <a:xfrm>
            <a:off x="8273415" y="4613275"/>
            <a:ext cx="3251835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33914C3-DD46-486B-96B2-070BFC7B85A7}"/>
              </a:ext>
            </a:extLst>
          </p:cNvPr>
          <p:cNvSpPr>
            <a:spLocks noGrp="1"/>
          </p:cNvSpPr>
          <p:nvPr/>
        </p:nvSpPr>
        <p:spPr>
          <a:xfrm>
            <a:off x="8368665" y="4699000"/>
            <a:ext cx="3061335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期末一次性提交</a:t>
            </a:r>
          </a:p>
        </p:txBody>
      </p:sp>
    </p:spTree>
    <p:extLst>
      <p:ext uri="{BB962C8B-B14F-4D97-AF65-F5344CB8AC3E}">
        <p14:creationId xmlns:p14="http://schemas.microsoft.com/office/powerpoint/2010/main" val="1478421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EB340CE-07F2-4C98-88EE-955078C739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FD74A01-4383-4105-9574-935520AAFEDD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42A9940-F8F8-48D9-9BB4-B7472ECFE118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7B9D1C-83CF-43AB-B347-6BC9D0F70F8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评分工具箱 + Analytics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55C0FF-BB6F-4D12-80B6-5596FA8B9968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自动验证、人工审核、AI 审计共同形成评分证据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DD407F-1258-405E-AD25-4BB144DA35C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8DBF76-E34A-4BAE-8E7F-9A911EC721D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AE7626-9B40-44DF-8C2E-A290D6F5DFC8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3FF85BD-A30B-4F96-A4F8-461D04114DEA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F1D1F3-0AF1-4130-A580-A8F732689277}"/>
              </a:ext>
            </a:extLst>
          </p:cNvPr>
          <p:cNvSpPr>
            <a:spLocks noGrp="1"/>
          </p:cNvSpPr>
          <p:nvPr/>
        </p:nvSpPr>
        <p:spPr>
          <a:xfrm>
            <a:off x="1028700" y="1962150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自动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C41C57-2788-4077-A975-39274D8E0228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public / generated / invariant / fuzz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6B49335-F886-4507-BAA5-AA28FE361754}"/>
              </a:ext>
            </a:extLst>
          </p:cNvPr>
          <p:cNvSpPr>
            <a:spLocks noGrp="1"/>
          </p:cNvSpPr>
          <p:nvPr/>
        </p:nvSpPr>
        <p:spPr>
          <a:xfrm>
            <a:off x="3524250" y="1790700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91FEB6-5D29-4A73-995E-6FF61914B7F7}"/>
              </a:ext>
            </a:extLst>
          </p:cNvPr>
          <p:cNvSpPr>
            <a:spLocks noGrp="1"/>
          </p:cNvSpPr>
          <p:nvPr/>
        </p:nvSpPr>
        <p:spPr>
          <a:xfrm>
            <a:off x="3695700" y="1962150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人工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B340DC-C2C8-4F62-ADFF-F4E73FCED21C}"/>
              </a:ext>
            </a:extLst>
          </p:cNvPr>
          <p:cNvSpPr>
            <a:spLocks noGrp="1"/>
          </p:cNvSpPr>
          <p:nvPr/>
        </p:nvSpPr>
        <p:spPr>
          <a:xfrm>
            <a:off x="3695700" y="2476500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ArchitectureSeed / ADR / Slice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C1EB87F-D899-4268-9BD2-701C116DA152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21A384-6E80-4B89-9121-5B40B361D4AC}"/>
              </a:ext>
            </a:extLst>
          </p:cNvPr>
          <p:cNvSpPr>
            <a:spLocks noGrp="1"/>
          </p:cNvSpPr>
          <p:nvPr/>
        </p:nvSpPr>
        <p:spPr>
          <a:xfrm>
            <a:off x="6362700" y="1962150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56B37C-BF63-4854-B83D-D54A435DCA9A}"/>
              </a:ext>
            </a:extLst>
          </p:cNvPr>
          <p:cNvSpPr>
            <a:spLocks noGrp="1"/>
          </p:cNvSpPr>
          <p:nvPr/>
        </p:nvSpPr>
        <p:spPr>
          <a:xfrm>
            <a:off x="6362700" y="2476500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Agent log / commit ledger / evidence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BFDD333-1703-4F50-9844-C4C5987A144D}"/>
              </a:ext>
            </a:extLst>
          </p:cNvPr>
          <p:cNvSpPr>
            <a:spLocks noGrp="1"/>
          </p:cNvSpPr>
          <p:nvPr/>
        </p:nvSpPr>
        <p:spPr>
          <a:xfrm>
            <a:off x="8858250" y="1790700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54BC15-04FC-436A-9D02-8584678DCBFE}"/>
              </a:ext>
            </a:extLst>
          </p:cNvPr>
          <p:cNvSpPr>
            <a:spLocks noGrp="1"/>
          </p:cNvSpPr>
          <p:nvPr/>
        </p:nvSpPr>
        <p:spPr>
          <a:xfrm>
            <a:off x="9029700" y="1962150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FCA296-196C-462B-A935-3C6683513130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通过率 / 热区 / AI 强度 / 目标分布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4D844F-B1F9-4FB1-A2B1-0DE5DAE3DC75}"/>
              </a:ext>
            </a:extLst>
          </p:cNvPr>
          <p:cNvSpPr>
            <a:spLocks noGrp="1"/>
          </p:cNvSpPr>
          <p:nvPr/>
        </p:nvSpPr>
        <p:spPr>
          <a:xfrm>
            <a:off x="1352550" y="37338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阶段通过率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0A04C09-8280-49D4-A1A6-AF0529451AFE}"/>
              </a:ext>
            </a:extLst>
          </p:cNvPr>
          <p:cNvSpPr>
            <a:spLocks noGrp="1"/>
          </p:cNvSpPr>
          <p:nvPr/>
        </p:nvSpPr>
        <p:spPr>
          <a:xfrm>
            <a:off x="3448050" y="3771900"/>
            <a:ext cx="7239000" cy="133350"/>
          </a:xfrm>
          <a:prstGeom prst="roundRect">
            <a:avLst>
              <a:gd name="adj" fmla="val 50000"/>
            </a:avLst>
          </a:prstGeom>
          <a:solidFill>
            <a:srgbClr val="E2EB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2D03FA5-B3C8-4EA7-8623-B236A9732B14}"/>
              </a:ext>
            </a:extLst>
          </p:cNvPr>
          <p:cNvSpPr>
            <a:spLocks noGrp="1"/>
          </p:cNvSpPr>
          <p:nvPr/>
        </p:nvSpPr>
        <p:spPr>
          <a:xfrm>
            <a:off x="3448050" y="3771900"/>
            <a:ext cx="5212080" cy="13335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0983FD-8803-44A6-AD9F-6773D44F1EDB}"/>
              </a:ext>
            </a:extLst>
          </p:cNvPr>
          <p:cNvSpPr>
            <a:spLocks noGrp="1"/>
          </p:cNvSpPr>
          <p:nvPr/>
        </p:nvSpPr>
        <p:spPr>
          <a:xfrm>
            <a:off x="1352550" y="41719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失败热区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BCC03B-1A57-4B05-9EF7-A2E195792461}"/>
              </a:ext>
            </a:extLst>
          </p:cNvPr>
          <p:cNvSpPr>
            <a:spLocks noGrp="1"/>
          </p:cNvSpPr>
          <p:nvPr/>
        </p:nvSpPr>
        <p:spPr>
          <a:xfrm>
            <a:off x="3448050" y="4210050"/>
            <a:ext cx="7239000" cy="133350"/>
          </a:xfrm>
          <a:prstGeom prst="roundRect">
            <a:avLst>
              <a:gd name="adj" fmla="val 50000"/>
            </a:avLst>
          </a:prstGeom>
          <a:solidFill>
            <a:srgbClr val="E2EB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E755AA-1851-4A02-85D8-8BA3947FFE8B}"/>
              </a:ext>
            </a:extLst>
          </p:cNvPr>
          <p:cNvSpPr>
            <a:spLocks noGrp="1"/>
          </p:cNvSpPr>
          <p:nvPr/>
        </p:nvSpPr>
        <p:spPr>
          <a:xfrm>
            <a:off x="3448050" y="4210050"/>
            <a:ext cx="3474720" cy="133350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A943BB0-7EA4-4C42-A2C8-76AB111628DB}"/>
              </a:ext>
            </a:extLst>
          </p:cNvPr>
          <p:cNvSpPr>
            <a:spLocks noGrp="1"/>
          </p:cNvSpPr>
          <p:nvPr/>
        </p:nvSpPr>
        <p:spPr>
          <a:xfrm>
            <a:off x="1352550" y="46101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AI 使用强度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47329CD-4E6D-4088-90B3-86FABA826EF3}"/>
              </a:ext>
            </a:extLst>
          </p:cNvPr>
          <p:cNvSpPr>
            <a:spLocks noGrp="1"/>
          </p:cNvSpPr>
          <p:nvPr/>
        </p:nvSpPr>
        <p:spPr>
          <a:xfrm>
            <a:off x="3448050" y="4648200"/>
            <a:ext cx="7239000" cy="133350"/>
          </a:xfrm>
          <a:prstGeom prst="roundRect">
            <a:avLst>
              <a:gd name="adj" fmla="val 50000"/>
            </a:avLst>
          </a:prstGeom>
          <a:solidFill>
            <a:srgbClr val="E2EB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EC54C06-6888-47C2-A94A-633229759F86}"/>
              </a:ext>
            </a:extLst>
          </p:cNvPr>
          <p:cNvSpPr>
            <a:spLocks noGrp="1"/>
          </p:cNvSpPr>
          <p:nvPr/>
        </p:nvSpPr>
        <p:spPr>
          <a:xfrm>
            <a:off x="3448050" y="4648200"/>
            <a:ext cx="4488180" cy="13335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025183-CB48-427F-9A6D-89D98E1F767B}"/>
              </a:ext>
            </a:extLst>
          </p:cNvPr>
          <p:cNvSpPr>
            <a:spLocks noGrp="1"/>
          </p:cNvSpPr>
          <p:nvPr/>
        </p:nvSpPr>
        <p:spPr>
          <a:xfrm>
            <a:off x="1352550" y="50482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个性化目标分布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B73D3DC-7A0B-4E08-A5E5-C0ACF77627AB}"/>
              </a:ext>
            </a:extLst>
          </p:cNvPr>
          <p:cNvSpPr>
            <a:spLocks noGrp="1"/>
          </p:cNvSpPr>
          <p:nvPr/>
        </p:nvSpPr>
        <p:spPr>
          <a:xfrm>
            <a:off x="3448050" y="5086350"/>
            <a:ext cx="7239000" cy="133350"/>
          </a:xfrm>
          <a:prstGeom prst="roundRect">
            <a:avLst>
              <a:gd name="adj" fmla="val 50000"/>
            </a:avLst>
          </a:prstGeom>
          <a:solidFill>
            <a:srgbClr val="E2EB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CFB7497-3C8D-4621-8015-E0A924D27C1D}"/>
              </a:ext>
            </a:extLst>
          </p:cNvPr>
          <p:cNvSpPr>
            <a:spLocks noGrp="1"/>
          </p:cNvSpPr>
          <p:nvPr/>
        </p:nvSpPr>
        <p:spPr>
          <a:xfrm>
            <a:off x="3448050" y="5086350"/>
            <a:ext cx="5863590" cy="1333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330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7FEFA34-5592-42EC-A225-D873A932A450}"/>
              </a:ext>
            </a:extLst>
          </p:cNvPr>
          <p:cNvSpPr>
            <a:spLocks noGrp="1"/>
          </p:cNvSpPr>
          <p:nvPr/>
        </p:nvSpPr>
        <p:spPr>
          <a:xfrm>
            <a:off x="0" y="142504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9C3E1A6-C474-4A86-BCFA-967FC9078CBA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8AB4760-96D1-4E72-A8B0-8A21F9A7C1E6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D50687-1FF6-4EA5-8362-A144D4646E5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AI Policy：教学意图的技术表达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7C8F91-DB07-45E1-9434-5933C5C427C9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规则不是口头提醒，而是可版本化、可执行、可审计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EA84A3E-1F06-4C47-8D16-E17CC35C18C9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180922-4092-4F9C-A873-D1222E314D6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B1D616-3412-4610-B571-41A8870EAFD8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028009C-570D-47E1-B4C2-F3252E6AE64B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4953000" cy="26670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9525">
            <a:solidFill>
              <a:srgbClr val="2443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E896F2-61CF-4EE6-86B5-7502744FB1C9}"/>
              </a:ext>
            </a:extLst>
          </p:cNvPr>
          <p:cNvSpPr>
            <a:spLocks noGrp="1"/>
          </p:cNvSpPr>
          <p:nvPr/>
        </p:nvSpPr>
        <p:spPr>
          <a:xfrm>
            <a:off x="1009650" y="194310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Policy 示例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3B1766-FDC2-4A25-B401-903B8C6603C1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4572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policy: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stage: process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deny: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- profile: implementer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  targets: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      - kernel/scheduler.c</a:t>
            </a:r>
          </a:p>
          <a:p>
            <a:pPr algn="l">
              <a:def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reason: "学生需独立设计调度策略"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9E97CDE-185B-4D53-9755-B6AA0179AEBE}"/>
              </a:ext>
            </a:extLst>
          </p:cNvPr>
          <p:cNvSpPr>
            <a:spLocks noGrp="1"/>
          </p:cNvSpPr>
          <p:nvPr/>
        </p:nvSpPr>
        <p:spPr>
          <a:xfrm>
            <a:off x="6400800" y="1952254"/>
            <a:ext cx="4000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562B117-717C-4DA8-98EC-D8DC2B732E08}"/>
              </a:ext>
            </a:extLst>
          </p:cNvPr>
          <p:cNvSpPr>
            <a:spLocks noGrp="1"/>
          </p:cNvSpPr>
          <p:nvPr/>
        </p:nvSpPr>
        <p:spPr>
          <a:xfrm>
            <a:off x="6400800" y="1952254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6BE466-566D-474C-A687-42BE9696E439}"/>
              </a:ext>
            </a:extLst>
          </p:cNvPr>
          <p:cNvSpPr>
            <a:spLocks noGrp="1"/>
          </p:cNvSpPr>
          <p:nvPr/>
        </p:nvSpPr>
        <p:spPr>
          <a:xfrm>
            <a:off x="6629400" y="2000250"/>
            <a:ext cx="360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StageGate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A63203-A861-462A-9185-01531E5B1ADE}"/>
              </a:ext>
            </a:extLst>
          </p:cNvPr>
          <p:cNvSpPr>
            <a:spLocks noGrp="1"/>
          </p:cNvSpPr>
          <p:nvPr/>
        </p:nvSpPr>
        <p:spPr>
          <a:xfrm>
            <a:off x="6629400" y="2400300"/>
            <a:ext cx="3600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控制什么时候开放哪些 Agent 身份。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0B0E39F-3A23-48FA-83D8-7009784AECB7}"/>
              </a:ext>
            </a:extLst>
          </p:cNvPr>
          <p:cNvSpPr>
            <a:spLocks noGrp="1"/>
          </p:cNvSpPr>
          <p:nvPr/>
        </p:nvSpPr>
        <p:spPr>
          <a:xfrm>
            <a:off x="6400800" y="3171454"/>
            <a:ext cx="4000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A362F80-45AC-4EDE-946B-7A55D3C7BC74}"/>
              </a:ext>
            </a:extLst>
          </p:cNvPr>
          <p:cNvSpPr>
            <a:spLocks noGrp="1"/>
          </p:cNvSpPr>
          <p:nvPr/>
        </p:nvSpPr>
        <p:spPr>
          <a:xfrm>
            <a:off x="6400800" y="3171454"/>
            <a:ext cx="76200" cy="8763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7FD9A5-5ABC-4EF6-B7D0-B6771ED16EEA}"/>
              </a:ext>
            </a:extLst>
          </p:cNvPr>
          <p:cNvSpPr>
            <a:spLocks noGrp="1"/>
          </p:cNvSpPr>
          <p:nvPr/>
        </p:nvSpPr>
        <p:spPr>
          <a:xfrm>
            <a:off x="6629400" y="3219450"/>
            <a:ext cx="360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Visibility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178473-50D4-476F-A46C-217412C062A1}"/>
              </a:ext>
            </a:extLst>
          </p:cNvPr>
          <p:cNvSpPr>
            <a:spLocks noGrp="1"/>
          </p:cNvSpPr>
          <p:nvPr/>
        </p:nvSpPr>
        <p:spPr>
          <a:xfrm>
            <a:off x="6629400" y="3619500"/>
            <a:ext cx="3600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学生、公有 Agent、教师视图分层。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8B6B7AC-B101-4D3B-8D06-4F38D93D64B5}"/>
              </a:ext>
            </a:extLst>
          </p:cNvPr>
          <p:cNvSpPr>
            <a:spLocks noGrp="1"/>
          </p:cNvSpPr>
          <p:nvPr/>
        </p:nvSpPr>
        <p:spPr>
          <a:xfrm>
            <a:off x="6400800" y="4390654"/>
            <a:ext cx="4000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02C2FE5-E2CB-47D2-BB7B-8A1DCF1F6A63}"/>
              </a:ext>
            </a:extLst>
          </p:cNvPr>
          <p:cNvSpPr>
            <a:spLocks noGrp="1"/>
          </p:cNvSpPr>
          <p:nvPr/>
        </p:nvSpPr>
        <p:spPr>
          <a:xfrm>
            <a:off x="6400800" y="4390654"/>
            <a:ext cx="76200" cy="87630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5DF621-36C9-4738-8F69-667899CEB9BE}"/>
              </a:ext>
            </a:extLst>
          </p:cNvPr>
          <p:cNvSpPr>
            <a:spLocks noGrp="1"/>
          </p:cNvSpPr>
          <p:nvPr/>
        </p:nvSpPr>
        <p:spPr>
          <a:xfrm>
            <a:off x="6629400" y="4438650"/>
            <a:ext cx="3600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096CC3-7AE3-4273-B37B-CCA5334B25A0}"/>
              </a:ext>
            </a:extLst>
          </p:cNvPr>
          <p:cNvSpPr>
            <a:spLocks noGrp="1"/>
          </p:cNvSpPr>
          <p:nvPr/>
        </p:nvSpPr>
        <p:spPr>
          <a:xfrm>
            <a:off x="6629400" y="4838700"/>
            <a:ext cx="3600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越权请求、被拒绝工具调用都进入审计链。</a:t>
            </a:r>
          </a:p>
        </p:txBody>
      </p:sp>
    </p:spTree>
    <p:extLst>
      <p:ext uri="{BB962C8B-B14F-4D97-AF65-F5344CB8AC3E}">
        <p14:creationId xmlns:p14="http://schemas.microsoft.com/office/powerpoint/2010/main" val="1708466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C6D4AA2-E69B-4696-AC52-89A8F3A660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832DD32-45D7-416B-A7B5-452728FC8357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0B1E90F-0007-4FFB-9BA0-F6E9FF7847EF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4FB4BA-9B94-43D1-A207-000543E7221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三线交汇：OperationContract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159F65-945A-4283-A6B2-1E1F9F9AE722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一份文档同时回答学生、Agent、教师的三个问题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8C9EB12-DC95-4C0D-9685-5C0FC69394F4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758051-54A5-4729-8DE3-DBE239D525F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Intersection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0FFB2D-10F3-44E3-AB9D-D941D5D2744D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1CDDA83-8344-49A6-980B-919093D93095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5FBB50-726F-4B91-9EE2-9C6DA5535BAC}"/>
              </a:ext>
            </a:extLst>
          </p:cNvPr>
          <p:cNvSpPr>
            <a:spLocks noGrp="1"/>
          </p:cNvSpPr>
          <p:nvPr/>
        </p:nvSpPr>
        <p:spPr>
          <a:xfrm>
            <a:off x="895350" y="196215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B78158-878E-4B73-8500-CB62DD56FF83}"/>
              </a:ext>
            </a:extLst>
          </p:cNvPr>
          <p:cNvSpPr>
            <a:spLocks noGrp="1"/>
          </p:cNvSpPr>
          <p:nvPr/>
        </p:nvSpPr>
        <p:spPr>
          <a:xfrm>
            <a:off x="1123950" y="21526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DE7540-6717-48F5-AB05-7CE4665AF805}"/>
              </a:ext>
            </a:extLst>
          </p:cNvPr>
          <p:cNvSpPr>
            <a:spLocks noGrp="1"/>
          </p:cNvSpPr>
          <p:nvPr/>
        </p:nvSpPr>
        <p:spPr>
          <a:xfrm>
            <a:off x="1123950" y="255270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“我的 kalloc 在无可用物理页时返回 NULL，而不是 panic。”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FFB9FD4-83FC-4E49-8DBB-1A23C32A07EF}"/>
              </a:ext>
            </a:extLst>
          </p:cNvPr>
          <p:cNvSpPr>
            <a:spLocks noGrp="1"/>
          </p:cNvSpPr>
          <p:nvPr/>
        </p:nvSpPr>
        <p:spPr>
          <a:xfrm>
            <a:off x="4572000" y="196215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A1C3F9A-1AF7-4002-89A1-9C3363463380}"/>
              </a:ext>
            </a:extLst>
          </p:cNvPr>
          <p:cNvSpPr>
            <a:spLocks noGrp="1"/>
          </p:cNvSpPr>
          <p:nvPr/>
        </p:nvSpPr>
        <p:spPr>
          <a:xfrm>
            <a:off x="4572000" y="196215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9399B7-712B-42FC-BCCC-F0DAB98019F1}"/>
              </a:ext>
            </a:extLst>
          </p:cNvPr>
          <p:cNvSpPr>
            <a:spLocks noGrp="1"/>
          </p:cNvSpPr>
          <p:nvPr/>
        </p:nvSpPr>
        <p:spPr>
          <a:xfrm>
            <a:off x="4800600" y="21526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74655B-0725-4B40-98DB-6B37CA209EEC}"/>
              </a:ext>
            </a:extLst>
          </p:cNvPr>
          <p:cNvSpPr>
            <a:spLocks noGrp="1"/>
          </p:cNvSpPr>
          <p:nvPr/>
        </p:nvSpPr>
        <p:spPr>
          <a:xfrm>
            <a:off x="4800600" y="255270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读取 rely/guarantee、pre/post、failure semantics 作为执行边界。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E2BC9AC-3FB1-4AB7-93A9-C34744E525D4}"/>
              </a:ext>
            </a:extLst>
          </p:cNvPr>
          <p:cNvSpPr>
            <a:spLocks noGrp="1"/>
          </p:cNvSpPr>
          <p:nvPr/>
        </p:nvSpPr>
        <p:spPr>
          <a:xfrm>
            <a:off x="8248650" y="196215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CCEA2F-5EE4-4A45-B06F-407F4E919C28}"/>
              </a:ext>
            </a:extLst>
          </p:cNvPr>
          <p:cNvSpPr>
            <a:spLocks noGrp="1"/>
          </p:cNvSpPr>
          <p:nvPr/>
        </p:nvSpPr>
        <p:spPr>
          <a:xfrm>
            <a:off x="8248650" y="196215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CE66C8-929C-42AD-A992-E859B70A19E4}"/>
              </a:ext>
            </a:extLst>
          </p:cNvPr>
          <p:cNvSpPr>
            <a:spLocks noGrp="1"/>
          </p:cNvSpPr>
          <p:nvPr/>
        </p:nvSpPr>
        <p:spPr>
          <a:xfrm>
            <a:off x="8477250" y="21526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4CDD61-F173-45DB-A118-5EF0262B629D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审查契约是否合理、实现是否越界、验证是否充分。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F3B7A08-69C5-4810-9490-28E8D286EAC3}"/>
              </a:ext>
            </a:extLst>
          </p:cNvPr>
          <p:cNvSpPr>
            <a:spLocks noGrp="1"/>
          </p:cNvSpPr>
          <p:nvPr/>
        </p:nvSpPr>
        <p:spPr>
          <a:xfrm>
            <a:off x="4210050" y="3905250"/>
            <a:ext cx="3790950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95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728069-DAD1-4616-A443-7B67F48F9A52}"/>
              </a:ext>
            </a:extLst>
          </p:cNvPr>
          <p:cNvSpPr>
            <a:spLocks noGrp="1"/>
          </p:cNvSpPr>
          <p:nvPr/>
        </p:nvSpPr>
        <p:spPr>
          <a:xfrm>
            <a:off x="4476750" y="4114800"/>
            <a:ext cx="3257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OperationContract = 设计意图 + 生成约束 + 验证依据</a:t>
            </a:r>
          </a:p>
        </p:txBody>
      </p:sp>
    </p:spTree>
    <p:extLst>
      <p:ext uri="{BB962C8B-B14F-4D97-AF65-F5344CB8AC3E}">
        <p14:creationId xmlns:p14="http://schemas.microsoft.com/office/powerpoint/2010/main" val="738668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754ADD2-D8F8-442C-9DF4-9F51E2B725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C8FAF5D-B1EC-4BF2-8A4B-799AA69A1582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75647CB-0473-4B19-B11D-F86F72A4832A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B232E9-7F37-4769-92F3-D89CD000E06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六对依存关系：三条线不是拼装，而是互相成就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2422FD-F7E4-4095-9EF4-BF298EC35995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核心论断：Agent 让个性化可规模化，个性化让 Agent 使用可评价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88FD889-5950-480C-A1C8-E48B572080A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8CC9D2-09DB-4D7A-A2F7-A368EAE52C0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Intersection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538D77-0059-471D-BC06-152EE1AF9430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418A923-F50D-49D0-9357-11A69662EE3D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0BF47B8-EDF6-4272-9B65-3683141F9B29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31B593-BBB5-4BDA-90C8-F7B165C76929}"/>
              </a:ext>
            </a:extLst>
          </p:cNvPr>
          <p:cNvSpPr>
            <a:spLocks noGrp="1"/>
          </p:cNvSpPr>
          <p:nvPr/>
        </p:nvSpPr>
        <p:spPr>
          <a:xfrm>
            <a:off x="1066800" y="19050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个性化 -&gt; 教师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092132-8FAC-4DAD-8E5C-A42023073CFE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差异让设计思维可审查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47F63C-81E6-47BD-8491-0D42C3BAF1B7}"/>
              </a:ext>
            </a:extLst>
          </p:cNvPr>
          <p:cNvSpPr>
            <a:spLocks noGrp="1"/>
          </p:cNvSpPr>
          <p:nvPr/>
        </p:nvSpPr>
        <p:spPr>
          <a:xfrm>
            <a:off x="4362450" y="171450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CD5CAA5-71B6-447C-BDD3-1B6AF4449D95}"/>
              </a:ext>
            </a:extLst>
          </p:cNvPr>
          <p:cNvSpPr>
            <a:spLocks noGrp="1"/>
          </p:cNvSpPr>
          <p:nvPr/>
        </p:nvSpPr>
        <p:spPr>
          <a:xfrm>
            <a:off x="4362450" y="171450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1D634E-ADE2-461F-8873-98EA49BB1851}"/>
              </a:ext>
            </a:extLst>
          </p:cNvPr>
          <p:cNvSpPr>
            <a:spLocks noGrp="1"/>
          </p:cNvSpPr>
          <p:nvPr/>
        </p:nvSpPr>
        <p:spPr>
          <a:xfrm>
            <a:off x="4591050" y="19050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Agent -&gt; 教师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B15C84-66DC-4377-B1CF-0EBFBFF7942D}"/>
              </a:ext>
            </a:extLst>
          </p:cNvPr>
          <p:cNvSpPr>
            <a:spLocks noGrp="1"/>
          </p:cNvSpPr>
          <p:nvPr/>
        </p:nvSpPr>
        <p:spPr>
          <a:xfrm>
            <a:off x="4591050" y="230505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重复验证与诊断自动化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C31442F-C8DB-4DA0-BF68-381F5AE29B22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D05A589-DA86-4B33-860F-F1B4ED1530F0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A5A4FF-E992-46ED-936F-784CA5203D64}"/>
              </a:ext>
            </a:extLst>
          </p:cNvPr>
          <p:cNvSpPr>
            <a:spLocks noGrp="1"/>
          </p:cNvSpPr>
          <p:nvPr/>
        </p:nvSpPr>
        <p:spPr>
          <a:xfrm>
            <a:off x="8115300" y="190500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教师 -&gt; Agent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806511-2A06-4837-8C4C-6989AE6BCBA7}"/>
              </a:ext>
            </a:extLst>
          </p:cNvPr>
          <p:cNvSpPr>
            <a:spLocks noGrp="1"/>
          </p:cNvSpPr>
          <p:nvPr/>
        </p:nvSpPr>
        <p:spPr>
          <a:xfrm>
            <a:off x="8115300" y="2305050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制定能力释放与 AI Policy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A41EA3D-C97A-4A30-9544-60557F88DF54}"/>
              </a:ext>
            </a:extLst>
          </p:cNvPr>
          <p:cNvSpPr>
            <a:spLocks noGrp="1"/>
          </p:cNvSpPr>
          <p:nvPr/>
        </p:nvSpPr>
        <p:spPr>
          <a:xfrm>
            <a:off x="838200" y="3381375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3980D3A-7857-4076-88B1-24545EE60DB5}"/>
              </a:ext>
            </a:extLst>
          </p:cNvPr>
          <p:cNvSpPr>
            <a:spLocks noGrp="1"/>
          </p:cNvSpPr>
          <p:nvPr/>
        </p:nvSpPr>
        <p:spPr>
          <a:xfrm>
            <a:off x="838200" y="3381375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6FDD35-CFDD-448D-B664-DFB5DA8E678D}"/>
              </a:ext>
            </a:extLst>
          </p:cNvPr>
          <p:cNvSpPr>
            <a:spLocks noGrp="1"/>
          </p:cNvSpPr>
          <p:nvPr/>
        </p:nvSpPr>
        <p:spPr>
          <a:xfrm>
            <a:off x="1066800" y="3571875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教师 -&gt; 个性化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CB4D95-6C0E-4E1B-AB83-0FA3AD4BE3F5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阶段审核引导设计路径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5F9A267-D9A0-4D93-8645-E7FAA911B9FE}"/>
              </a:ext>
            </a:extLst>
          </p:cNvPr>
          <p:cNvSpPr>
            <a:spLocks noGrp="1"/>
          </p:cNvSpPr>
          <p:nvPr/>
        </p:nvSpPr>
        <p:spPr>
          <a:xfrm>
            <a:off x="4362450" y="3381375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48705E6-2BB0-4150-A60E-81C55DC427D1}"/>
              </a:ext>
            </a:extLst>
          </p:cNvPr>
          <p:cNvSpPr>
            <a:spLocks noGrp="1"/>
          </p:cNvSpPr>
          <p:nvPr/>
        </p:nvSpPr>
        <p:spPr>
          <a:xfrm>
            <a:off x="4362450" y="3381375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6B8325-5A22-484A-AB3F-D2D3BF9A3B53}"/>
              </a:ext>
            </a:extLst>
          </p:cNvPr>
          <p:cNvSpPr>
            <a:spLocks noGrp="1"/>
          </p:cNvSpPr>
          <p:nvPr/>
        </p:nvSpPr>
        <p:spPr>
          <a:xfrm>
            <a:off x="4591050" y="3571875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Agent -&gt; 个性化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FFACD6-3870-4B39-9E1A-13559B8042C5}"/>
              </a:ext>
            </a:extLst>
          </p:cNvPr>
          <p:cNvSpPr>
            <a:spLocks noGrp="1"/>
          </p:cNvSpPr>
          <p:nvPr/>
        </p:nvSpPr>
        <p:spPr>
          <a:xfrm>
            <a:off x="4591050" y="397192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为 50 条路线提供定制辅助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6AC687B-297A-44F6-8764-5C73192E4093}"/>
              </a:ext>
            </a:extLst>
          </p:cNvPr>
          <p:cNvSpPr>
            <a:spLocks noGrp="1"/>
          </p:cNvSpPr>
          <p:nvPr/>
        </p:nvSpPr>
        <p:spPr>
          <a:xfrm>
            <a:off x="7886700" y="3381375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822988E-7635-444B-A6A8-3C35ECB5C736}"/>
              </a:ext>
            </a:extLst>
          </p:cNvPr>
          <p:cNvSpPr>
            <a:spLocks noGrp="1"/>
          </p:cNvSpPr>
          <p:nvPr/>
        </p:nvSpPr>
        <p:spPr>
          <a:xfrm>
            <a:off x="7886700" y="3381375"/>
            <a:ext cx="76200" cy="1123950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58A77D-D103-4E3B-8911-2C095100BA68}"/>
              </a:ext>
            </a:extLst>
          </p:cNvPr>
          <p:cNvSpPr>
            <a:spLocks noGrp="1"/>
          </p:cNvSpPr>
          <p:nvPr/>
        </p:nvSpPr>
        <p:spPr>
          <a:xfrm>
            <a:off x="8115300" y="3571875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个性化 -&gt; Agent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F7E3D1-EDE3-46B3-A318-7B5CF798FF16}"/>
              </a:ext>
            </a:extLst>
          </p:cNvPr>
          <p:cNvSpPr>
            <a:spLocks noGrp="1"/>
          </p:cNvSpPr>
          <p:nvPr/>
        </p:nvSpPr>
        <p:spPr>
          <a:xfrm>
            <a:off x="8115300" y="3971925"/>
            <a:ext cx="274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独特规格让 AI 产出可评价</a:t>
            </a:r>
          </a:p>
        </p:txBody>
      </p:sp>
    </p:spTree>
    <p:extLst>
      <p:ext uri="{BB962C8B-B14F-4D97-AF65-F5344CB8AC3E}">
        <p14:creationId xmlns:p14="http://schemas.microsoft.com/office/powerpoint/2010/main" val="130545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C4B8F0E-56D4-410E-9497-B9AAAB9C02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5C4374C-D6AF-4CA5-A6E7-C5E753727597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87AD36A-F80B-400C-82C7-52C70EEE2DA0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7DC576-B685-4279-95E8-273318A567A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VOS 工具链：六个技术亮点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18C232-AB9C-4AB7-82A4-EFCD344D4823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把教学流程落在可运行的 TypeScript/Bun workspace 中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B9D7BE9-2456-46B0-A594-1DD5A0E26CF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2A26CC-97FE-4A47-B27E-2E0DB51DD54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D257AC-4178-43C3-899C-B30A9CCDE4C0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59829F-EDF7-4F0F-B0BB-08D445A1AEF7}"/>
              </a:ext>
            </a:extLst>
          </p:cNvPr>
          <p:cNvSpPr>
            <a:spLocks noGrp="1"/>
          </p:cNvSpPr>
          <p:nvPr/>
        </p:nvSpPr>
        <p:spPr>
          <a:xfrm>
            <a:off x="809625" y="1676400"/>
            <a:ext cx="3000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80C5A1E-903B-4AC5-8D2B-08A2C64C6853}"/>
              </a:ext>
            </a:extLst>
          </p:cNvPr>
          <p:cNvSpPr>
            <a:spLocks noGrp="1"/>
          </p:cNvSpPr>
          <p:nvPr/>
        </p:nvSpPr>
        <p:spPr>
          <a:xfrm>
            <a:off x="809625" y="167640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D134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92E740-D14A-4479-B257-62936AE4961F}"/>
              </a:ext>
            </a:extLst>
          </p:cNvPr>
          <p:cNvSpPr>
            <a:spLocks noGrp="1"/>
          </p:cNvSpPr>
          <p:nvPr/>
        </p:nvSpPr>
        <p:spPr>
          <a:xfrm>
            <a:off x="1038225" y="186690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13438"/>
                </a:solidFill>
                <a:latin typeface="Microsoft YaHei"/>
                <a:ea typeface="Microsoft YaHei"/>
                <a:cs typeface="Microsoft YaHei"/>
              </a:rPr>
              <a:t>自动插桩调试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30600-6F0A-4932-89B0-CE34E0947A72}"/>
              </a:ext>
            </a:extLst>
          </p:cNvPr>
          <p:cNvSpPr>
            <a:spLocks noGrp="1"/>
          </p:cNvSpPr>
          <p:nvPr/>
        </p:nvSpPr>
        <p:spPr>
          <a:xfrm>
            <a:off x="1038225" y="2266950"/>
            <a:ext cx="2600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隔离 worktree + QEMU/GDB trace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9EA6108-3E48-438A-A70B-A2B3D7CED341}"/>
              </a:ext>
            </a:extLst>
          </p:cNvPr>
          <p:cNvSpPr>
            <a:spLocks noGrp="1"/>
          </p:cNvSpPr>
          <p:nvPr/>
        </p:nvSpPr>
        <p:spPr>
          <a:xfrm>
            <a:off x="4333875" y="1676400"/>
            <a:ext cx="3000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EDD3C7E-85FC-450F-AB02-1C74F6FABF07}"/>
              </a:ext>
            </a:extLst>
          </p:cNvPr>
          <p:cNvSpPr>
            <a:spLocks noGrp="1"/>
          </p:cNvSpPr>
          <p:nvPr/>
        </p:nvSpPr>
        <p:spPr>
          <a:xfrm>
            <a:off x="4333875" y="167640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FEC7A8-863D-4C59-84B5-1DA54A01DD18}"/>
              </a:ext>
            </a:extLst>
          </p:cNvPr>
          <p:cNvSpPr>
            <a:spLocks noGrp="1"/>
          </p:cNvSpPr>
          <p:nvPr/>
        </p:nvSpPr>
        <p:spPr>
          <a:xfrm>
            <a:off x="4562475" y="186690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Skill 可视化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4708AF-F9B2-4823-BA43-3D617257E0D8}"/>
              </a:ext>
            </a:extLst>
          </p:cNvPr>
          <p:cNvSpPr>
            <a:spLocks noGrp="1"/>
          </p:cNvSpPr>
          <p:nvPr/>
        </p:nvSpPr>
        <p:spPr>
          <a:xfrm>
            <a:off x="4562475" y="2266950"/>
            <a:ext cx="2600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交互式 HTML 解释错误过程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C1EA7C2-895A-4607-ABA7-EA439A82215E}"/>
              </a:ext>
            </a:extLst>
          </p:cNvPr>
          <p:cNvSpPr>
            <a:spLocks noGrp="1"/>
          </p:cNvSpPr>
          <p:nvPr/>
        </p:nvSpPr>
        <p:spPr>
          <a:xfrm>
            <a:off x="7858125" y="1676400"/>
            <a:ext cx="3000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AB72954-9FD4-4D2B-81E0-809AA4911A76}"/>
              </a:ext>
            </a:extLst>
          </p:cNvPr>
          <p:cNvSpPr>
            <a:spLocks noGrp="1"/>
          </p:cNvSpPr>
          <p:nvPr/>
        </p:nvSpPr>
        <p:spPr>
          <a:xfrm>
            <a:off x="7858125" y="167640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1A7FCD-5CF6-48A9-902A-E9FEFE52B3E7}"/>
              </a:ext>
            </a:extLst>
          </p:cNvPr>
          <p:cNvSpPr>
            <a:spLocks noGrp="1"/>
          </p:cNvSpPr>
          <p:nvPr/>
        </p:nvSpPr>
        <p:spPr>
          <a:xfrm>
            <a:off x="8086725" y="186690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Commit 追踪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995686-0F86-463F-B547-1D7322F8D3E0}"/>
              </a:ext>
            </a:extLst>
          </p:cNvPr>
          <p:cNvSpPr>
            <a:spLocks noGrp="1"/>
          </p:cNvSpPr>
          <p:nvPr/>
        </p:nvSpPr>
        <p:spPr>
          <a:xfrm>
            <a:off x="8086725" y="2266950"/>
            <a:ext cx="2600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human/agent 统一 ledger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D6617D0-0E93-44A8-8318-979F0A79D7B1}"/>
              </a:ext>
            </a:extLst>
          </p:cNvPr>
          <p:cNvSpPr>
            <a:spLocks noGrp="1"/>
          </p:cNvSpPr>
          <p:nvPr/>
        </p:nvSpPr>
        <p:spPr>
          <a:xfrm>
            <a:off x="809625" y="3638550"/>
            <a:ext cx="3000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89C46AB-FC6A-499C-9854-7A2CA8700068}"/>
              </a:ext>
            </a:extLst>
          </p:cNvPr>
          <p:cNvSpPr>
            <a:spLocks noGrp="1"/>
          </p:cNvSpPr>
          <p:nvPr/>
        </p:nvSpPr>
        <p:spPr>
          <a:xfrm>
            <a:off x="809625" y="36385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B71A30-DEA7-4D4A-9720-BB5E88296AAA}"/>
              </a:ext>
            </a:extLst>
          </p:cNvPr>
          <p:cNvSpPr>
            <a:spLocks noGrp="1"/>
          </p:cNvSpPr>
          <p:nvPr/>
        </p:nvSpPr>
        <p:spPr>
          <a:xfrm>
            <a:off x="1038225" y="382905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测试派生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831D91-0941-4FD1-8B2F-463CE01FC9F2}"/>
              </a:ext>
            </a:extLst>
          </p:cNvPr>
          <p:cNvSpPr>
            <a:spLocks noGrp="1"/>
          </p:cNvSpPr>
          <p:nvPr/>
        </p:nvSpPr>
        <p:spPr>
          <a:xfrm>
            <a:off x="1038225" y="4229100"/>
            <a:ext cx="2600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deriveTestMatrix 从 spec 选择测例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9D3B28C-DF7D-4AEE-ADBF-94E9CF245FAF}"/>
              </a:ext>
            </a:extLst>
          </p:cNvPr>
          <p:cNvSpPr>
            <a:spLocks noGrp="1"/>
          </p:cNvSpPr>
          <p:nvPr/>
        </p:nvSpPr>
        <p:spPr>
          <a:xfrm>
            <a:off x="4333875" y="3638550"/>
            <a:ext cx="3000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ADABFBD-D527-4F90-B15A-92CD9FF15ECF}"/>
              </a:ext>
            </a:extLst>
          </p:cNvPr>
          <p:cNvSpPr>
            <a:spLocks noGrp="1"/>
          </p:cNvSpPr>
          <p:nvPr/>
        </p:nvSpPr>
        <p:spPr>
          <a:xfrm>
            <a:off x="4333875" y="36385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7400167-E0B8-4AC3-A045-FD51F7129AD9}"/>
              </a:ext>
            </a:extLst>
          </p:cNvPr>
          <p:cNvSpPr>
            <a:spLocks noGrp="1"/>
          </p:cNvSpPr>
          <p:nvPr/>
        </p:nvSpPr>
        <p:spPr>
          <a:xfrm>
            <a:off x="4562475" y="382905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lang="zh-CN" altLang="en-US" sz="1650" b="1" dirty="0">
                <a:solidFill>
                  <a:srgbClr val="00B7C3"/>
                </a:solidFill>
                <a:latin typeface="Microsoft YaHei"/>
                <a:ea typeface="Microsoft YaHei"/>
                <a:cs typeface="Microsoft YaHei"/>
              </a:rPr>
              <a:t>权限控制</a:t>
            </a:r>
            <a:endParaRPr sz="1650" b="1" dirty="0">
              <a:solidFill>
                <a:srgbClr val="00B7C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50E4517-3668-4FBE-AD0D-E8C451220D7F}"/>
              </a:ext>
            </a:extLst>
          </p:cNvPr>
          <p:cNvSpPr>
            <a:spLocks noGrp="1"/>
          </p:cNvSpPr>
          <p:nvPr/>
        </p:nvSpPr>
        <p:spPr>
          <a:xfrm>
            <a:off x="4562475" y="4229100"/>
            <a:ext cx="2600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身份不混用，边界清晰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C2FDBD7-4F84-4569-9242-ABC29D743299}"/>
              </a:ext>
            </a:extLst>
          </p:cNvPr>
          <p:cNvSpPr>
            <a:spLocks noGrp="1"/>
          </p:cNvSpPr>
          <p:nvPr/>
        </p:nvSpPr>
        <p:spPr>
          <a:xfrm>
            <a:off x="7858125" y="3638550"/>
            <a:ext cx="300037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3F066CD-8B0F-4B5A-9113-F6586A238569}"/>
              </a:ext>
            </a:extLst>
          </p:cNvPr>
          <p:cNvSpPr>
            <a:spLocks noGrp="1"/>
          </p:cNvSpPr>
          <p:nvPr/>
        </p:nvSpPr>
        <p:spPr>
          <a:xfrm>
            <a:off x="7858125" y="36385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0CE0D68-F79F-41F6-A0B9-FBBF5953C15A}"/>
              </a:ext>
            </a:extLst>
          </p:cNvPr>
          <p:cNvSpPr>
            <a:spLocks noGrp="1"/>
          </p:cNvSpPr>
          <p:nvPr/>
        </p:nvSpPr>
        <p:spPr>
          <a:xfrm>
            <a:off x="8086725" y="3829050"/>
            <a:ext cx="2600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向量 KB MCP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B913DD-BDED-4718-A219-0B02757C9440}"/>
              </a:ext>
            </a:extLst>
          </p:cNvPr>
          <p:cNvSpPr>
            <a:spLocks noGrp="1"/>
          </p:cNvSpPr>
          <p:nvPr/>
        </p:nvSpPr>
        <p:spPr>
          <a:xfrm>
            <a:off x="8086725" y="4229100"/>
            <a:ext cx="26003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sqlite-vec + 六工具接口</a:t>
            </a:r>
          </a:p>
        </p:txBody>
      </p:sp>
    </p:spTree>
    <p:extLst>
      <p:ext uri="{BB962C8B-B14F-4D97-AF65-F5344CB8AC3E}">
        <p14:creationId xmlns:p14="http://schemas.microsoft.com/office/powerpoint/2010/main" val="1954689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633B557-156B-4D58-8F68-2C50173C42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E0EFD04-7309-4FA4-A1A0-53FCD967F1EC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5F2A5FF-01F8-4A70-BDB3-D69499300682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7644EB-4C69-4283-8C31-2FB655D6095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平台架构：Portal 是控制面，VOS 是仓库运行时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F0923D-FD25-430D-852B-8028196F38B5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边界清楚，才便于课程规模化和安全治理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DEE78E8-A99A-4A01-AECF-A27A8643F88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0D8337-CE92-48BA-8B53-65A84F70ACE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46DE23-9240-4FC1-AE34-9B495CE67135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A83031D-62C4-4D13-8293-81F65A79BE0F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4095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043BF6-8DCB-4F12-8577-A905D203630D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76200" cy="209550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46AFD-EBD3-43CA-B162-2604E6A50F22}"/>
              </a:ext>
            </a:extLst>
          </p:cNvPr>
          <p:cNvSpPr>
            <a:spLocks noGrp="1"/>
          </p:cNvSpPr>
          <p:nvPr/>
        </p:nvSpPr>
        <p:spPr>
          <a:xfrm>
            <a:off x="1104900" y="213360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Portal / Control Plane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38A1F9-9EDE-49E8-946F-04784BA85C50}"/>
              </a:ext>
            </a:extLst>
          </p:cNvPr>
          <p:cNvSpPr>
            <a:spLocks noGrp="1"/>
          </p:cNvSpPr>
          <p:nvPr/>
        </p:nvSpPr>
        <p:spPr>
          <a:xfrm>
            <a:off x="1104900" y="2533650"/>
            <a:ext cx="36957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签发身份、绑定 project/stage、保存 policy snapshot、调度 runner、归档 evidence、展示 Analytics。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39799AA-88B1-487A-B508-E44593A869AD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4095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81DD77-9F2E-4B86-AE20-CE683197E3CA}"/>
              </a:ext>
            </a:extLst>
          </p:cNvPr>
          <p:cNvSpPr>
            <a:spLocks noGrp="1"/>
          </p:cNvSpPr>
          <p:nvPr/>
        </p:nvSpPr>
        <p:spPr>
          <a:xfrm>
            <a:off x="7239000" y="1943100"/>
            <a:ext cx="76200" cy="20955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8C8099-A2DA-478D-A9CA-C8A3FDB83647}"/>
              </a:ext>
            </a:extLst>
          </p:cNvPr>
          <p:cNvSpPr>
            <a:spLocks noGrp="1"/>
          </p:cNvSpPr>
          <p:nvPr/>
        </p:nvSpPr>
        <p:spPr>
          <a:xfrm>
            <a:off x="7467600" y="213360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VOS / Repo Runtime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ADC549-E0E6-407A-B08A-7110FF1649EF}"/>
              </a:ext>
            </a:extLst>
          </p:cNvPr>
          <p:cNvSpPr>
            <a:spLocks noGrp="1"/>
          </p:cNvSpPr>
          <p:nvPr/>
        </p:nvSpPr>
        <p:spPr>
          <a:xfrm>
            <a:off x="7467600" y="2533650"/>
            <a:ext cx="36957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读取 spec/.vos，执行 lint/build/run/verify/report/agent，不承载云端工作区工具执行。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0AF1E8D-DB1D-45FC-94C4-8E039F4207F8}"/>
              </a:ext>
            </a:extLst>
          </p:cNvPr>
          <p:cNvSpPr>
            <a:spLocks noGrp="1"/>
          </p:cNvSpPr>
          <p:nvPr/>
        </p:nvSpPr>
        <p:spPr>
          <a:xfrm>
            <a:off x="2381250" y="4877294"/>
            <a:ext cx="2324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F3C955-8E3A-42AC-B178-3B070F9C2901}"/>
              </a:ext>
            </a:extLst>
          </p:cNvPr>
          <p:cNvSpPr>
            <a:spLocks noGrp="1"/>
          </p:cNvSpPr>
          <p:nvPr/>
        </p:nvSpPr>
        <p:spPr>
          <a:xfrm>
            <a:off x="2514600" y="49339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0100F2-5D02-4279-B56D-CADE1146DADA}"/>
              </a:ext>
            </a:extLst>
          </p:cNvPr>
          <p:cNvSpPr>
            <a:spLocks noGrp="1"/>
          </p:cNvSpPr>
          <p:nvPr/>
        </p:nvSpPr>
        <p:spPr>
          <a:xfrm>
            <a:off x="2533650" y="5314950"/>
            <a:ext cx="2019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单课程单实验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D9B1DF-BFA4-45C5-9FCF-A0C8990BDFD9}"/>
              </a:ext>
            </a:extLst>
          </p:cNvPr>
          <p:cNvSpPr>
            <a:spLocks noGrp="1"/>
          </p:cNvSpPr>
          <p:nvPr/>
        </p:nvSpPr>
        <p:spPr>
          <a:xfrm>
            <a:off x="4733925" y="5115419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7C23104-AAF5-4617-A408-6FD978AF2E35}"/>
              </a:ext>
            </a:extLst>
          </p:cNvPr>
          <p:cNvSpPr>
            <a:spLocks noGrp="1"/>
          </p:cNvSpPr>
          <p:nvPr/>
        </p:nvSpPr>
        <p:spPr>
          <a:xfrm>
            <a:off x="4933950" y="4877294"/>
            <a:ext cx="2324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D97C17-0B60-4124-BB04-C8F6C9A1312E}"/>
              </a:ext>
            </a:extLst>
          </p:cNvPr>
          <p:cNvSpPr>
            <a:spLocks noGrp="1"/>
          </p:cNvSpPr>
          <p:nvPr/>
        </p:nvSpPr>
        <p:spPr>
          <a:xfrm>
            <a:off x="5067300" y="49339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C76406-24B3-4010-A9B4-A09083A2587F}"/>
              </a:ext>
            </a:extLst>
          </p:cNvPr>
          <p:cNvSpPr>
            <a:spLocks noGrp="1"/>
          </p:cNvSpPr>
          <p:nvPr/>
        </p:nvSpPr>
        <p:spPr>
          <a:xfrm>
            <a:off x="5086350" y="5314950"/>
            <a:ext cx="2019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完整审核与 Judge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27F1F8-9842-4609-ACA8-23EB09CF9562}"/>
              </a:ext>
            </a:extLst>
          </p:cNvPr>
          <p:cNvSpPr>
            <a:spLocks noGrp="1"/>
          </p:cNvSpPr>
          <p:nvPr/>
        </p:nvSpPr>
        <p:spPr>
          <a:xfrm>
            <a:off x="7286625" y="5115419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4EB2A88-0C91-4E07-AA88-C2081C61526E}"/>
              </a:ext>
            </a:extLst>
          </p:cNvPr>
          <p:cNvSpPr>
            <a:spLocks noGrp="1"/>
          </p:cNvSpPr>
          <p:nvPr/>
        </p:nvSpPr>
        <p:spPr>
          <a:xfrm>
            <a:off x="7486650" y="4877294"/>
            <a:ext cx="23241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D653E5-DD5E-426D-BE04-B9A4918291AA}"/>
              </a:ext>
            </a:extLst>
          </p:cNvPr>
          <p:cNvSpPr>
            <a:spLocks noGrp="1"/>
          </p:cNvSpPr>
          <p:nvPr/>
        </p:nvSpPr>
        <p:spPr>
          <a:xfrm>
            <a:off x="7620000" y="49339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Phase 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3374C2-2492-48AF-81CF-93792858593B}"/>
              </a:ext>
            </a:extLst>
          </p:cNvPr>
          <p:cNvSpPr>
            <a:spLocks noGrp="1"/>
          </p:cNvSpPr>
          <p:nvPr/>
        </p:nvSpPr>
        <p:spPr>
          <a:xfrm>
            <a:off x="7639050" y="5314950"/>
            <a:ext cx="2019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多租户与硬件评测</a:t>
            </a:r>
          </a:p>
        </p:txBody>
      </p:sp>
    </p:spTree>
    <p:extLst>
      <p:ext uri="{BB962C8B-B14F-4D97-AF65-F5344CB8AC3E}">
        <p14:creationId xmlns:p14="http://schemas.microsoft.com/office/powerpoint/2010/main" val="620092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CBB870-B489-49F6-8722-E1DC623ED3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9282F64-E5FA-4121-BF95-EEDB59898F42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938E6AF-9CD1-47E9-8DC1-2791B47B51EF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D668FB-7F3B-4825-8E36-9C95A2F778D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参考实现：xv6-spec 的可见成果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A66DE5-6E19-4437-90A9-F992D3F66811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规格驱动的 RISC-V 教学内核参考项目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6351B8E-3AC1-4B92-B686-876CFBE6F1BA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C7C2CE-605C-49D5-B27E-C88AA78A645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1E02EF-59ED-47A8-A2C7-C4CFC1A69F11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C00BB18-06D7-421E-B398-4C36E2D4E9BA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C4651C-AB64-4304-8232-4BD6A452AC5B}"/>
              </a:ext>
            </a:extLst>
          </p:cNvPr>
          <p:cNvSpPr>
            <a:spLocks noGrp="1"/>
          </p:cNvSpPr>
          <p:nvPr/>
        </p:nvSpPr>
        <p:spPr>
          <a:xfrm>
            <a:off x="1047750" y="1933575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5ABDF7-F8B3-4D26-877C-BCCBDAA819BE}"/>
              </a:ext>
            </a:extLst>
          </p:cNvPr>
          <p:cNvSpPr>
            <a:spLocks noGrp="1"/>
          </p:cNvSpPr>
          <p:nvPr/>
        </p:nvSpPr>
        <p:spPr>
          <a:xfrm>
            <a:off x="1047750" y="2447925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OperationContract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58EE73-534B-4539-B0F0-AC3F48CBB621}"/>
              </a:ext>
            </a:extLst>
          </p:cNvPr>
          <p:cNvSpPr>
            <a:spLocks noGrp="1"/>
          </p:cNvSpPr>
          <p:nvPr/>
        </p:nvSpPr>
        <p:spPr>
          <a:xfrm>
            <a:off x="3562350" y="1762125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7A099E-11A8-4900-B07F-D8AD28BDDFB1}"/>
              </a:ext>
            </a:extLst>
          </p:cNvPr>
          <p:cNvSpPr>
            <a:spLocks noGrp="1"/>
          </p:cNvSpPr>
          <p:nvPr/>
        </p:nvSpPr>
        <p:spPr>
          <a:xfrm>
            <a:off x="3733800" y="1933575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EC7C4C-03FF-4A85-89DA-070175E29781}"/>
              </a:ext>
            </a:extLst>
          </p:cNvPr>
          <p:cNvSpPr>
            <a:spLocks noGrp="1"/>
          </p:cNvSpPr>
          <p:nvPr/>
        </p:nvSpPr>
        <p:spPr>
          <a:xfrm>
            <a:off x="3733800" y="2447925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内核子模块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6CA2AE2-9EF8-4A92-85C7-5553BE429782}"/>
              </a:ext>
            </a:extLst>
          </p:cNvPr>
          <p:cNvSpPr>
            <a:spLocks noGrp="1"/>
          </p:cNvSpPr>
          <p:nvPr/>
        </p:nvSpPr>
        <p:spPr>
          <a:xfrm>
            <a:off x="6248400" y="1762125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83C01E-03D6-4288-911A-441AFE3E85B6}"/>
              </a:ext>
            </a:extLst>
          </p:cNvPr>
          <p:cNvSpPr>
            <a:spLocks noGrp="1"/>
          </p:cNvSpPr>
          <p:nvPr/>
        </p:nvSpPr>
        <p:spPr>
          <a:xfrm>
            <a:off x="6419850" y="1933575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B1244A-79B4-4013-8F9F-6CA0C0F8E5D7}"/>
              </a:ext>
            </a:extLst>
          </p:cNvPr>
          <p:cNvSpPr>
            <a:spLocks noGrp="1"/>
          </p:cNvSpPr>
          <p:nvPr/>
        </p:nvSpPr>
        <p:spPr>
          <a:xfrm>
            <a:off x="6419850" y="2447925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公开测试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9082770-F26A-4324-A6A0-D880AF26B24E}"/>
              </a:ext>
            </a:extLst>
          </p:cNvPr>
          <p:cNvSpPr>
            <a:spLocks noGrp="1"/>
          </p:cNvSpPr>
          <p:nvPr/>
        </p:nvSpPr>
        <p:spPr>
          <a:xfrm>
            <a:off x="8934450" y="1762125"/>
            <a:ext cx="23336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2B3AC6-9F98-4061-9764-9F00851EC532}"/>
              </a:ext>
            </a:extLst>
          </p:cNvPr>
          <p:cNvSpPr>
            <a:spLocks noGrp="1"/>
          </p:cNvSpPr>
          <p:nvPr/>
        </p:nvSpPr>
        <p:spPr>
          <a:xfrm>
            <a:off x="9105900" y="1933575"/>
            <a:ext cx="19907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1D3706-5D07-4CF1-A415-2E34E8EE91FD}"/>
              </a:ext>
            </a:extLst>
          </p:cNvPr>
          <p:cNvSpPr>
            <a:spLocks noGrp="1"/>
          </p:cNvSpPr>
          <p:nvPr/>
        </p:nvSpPr>
        <p:spPr>
          <a:xfrm>
            <a:off x="9105900" y="2447925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ArchitectureSlice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AD94D8-340A-4C61-A72D-4623D4EA0911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9334500" cy="1524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2443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694BD0-A715-43A1-9F6B-2A21A3C46BCE}"/>
              </a:ext>
            </a:extLst>
          </p:cNvPr>
          <p:cNvSpPr>
            <a:spLocks noGrp="1"/>
          </p:cNvSpPr>
          <p:nvPr/>
        </p:nvSpPr>
        <p:spPr>
          <a:xfrm>
            <a:off x="1619250" y="384810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BE7FF"/>
                </a:solidFill>
                <a:latin typeface="Cascadia Mono"/>
                <a:ea typeface="Cascadia Mono"/>
                <a:cs typeface="Cascadia Mono"/>
              </a:rPr>
              <a:t>项目结构证据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861722-31A7-4CBB-8B6E-2C096AD8BBBD}"/>
              </a:ext>
            </a:extLst>
          </p:cNvPr>
          <p:cNvSpPr>
            <a:spLocks noGrp="1"/>
          </p:cNvSpPr>
          <p:nvPr/>
        </p:nvSpPr>
        <p:spPr>
          <a:xfrm>
            <a:off x="1619250" y="4171950"/>
            <a:ext cx="8953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examples/xv6-spec/</a:t>
            </a:r>
          </a:p>
          <a:p>
            <a:pPr algn="l">
              <a:def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spec/architecture/</a:t>
            </a:r>
          </a:p>
          <a:p>
            <a:pPr algn="l">
              <a:def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spec/modules/kernel/</a:t>
            </a:r>
          </a:p>
          <a:p>
            <a:pPr algn="l">
              <a:def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spec/toolchain/</a:t>
            </a:r>
          </a:p>
          <a:p>
            <a:pPr algn="l">
              <a:def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spec/verification/</a:t>
            </a:r>
          </a:p>
          <a:p>
            <a:pPr algn="l">
              <a:def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5F1FF"/>
                </a:solidFill>
                <a:latin typeface="Cascadia Mono"/>
                <a:ea typeface="Cascadia Mono"/>
                <a:cs typeface="Cascadia Mono"/>
              </a:rPr>
              <a:t>  kernel/ user/ tests/public/</a:t>
            </a:r>
          </a:p>
        </p:txBody>
      </p:sp>
    </p:spTree>
    <p:extLst>
      <p:ext uri="{BB962C8B-B14F-4D97-AF65-F5344CB8AC3E}">
        <p14:creationId xmlns:p14="http://schemas.microsoft.com/office/powerpoint/2010/main" val="580515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30883AA-3929-408A-95FE-EEFE2DDBEC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1DC36D-207F-47AC-A311-538ADAAD481D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B50CAF4-3596-4AA7-9BDC-717DE79F19BD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8C6677-78BB-49B0-B855-25CAF1F3593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学生复刻验证：真流程暴露真问题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1B2423-1F21-41E5-9DC0-2E9B74AD209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从 boot-only 项目到 Agent debug 插桩，记录成功与不足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A2976E1-45B8-404B-BA53-76C7B5AAEA2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667D43-6DB3-4F23-A208-B08C5CEF7E3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D5B852-E438-41B7-B24E-44137AA8E8B8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8F18D5B-C20D-42A8-9501-733D852A4AD8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2026920" cy="523875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0A5426-5C1D-41EB-9C7C-8D13C29A692B}"/>
              </a:ext>
            </a:extLst>
          </p:cNvPr>
          <p:cNvSpPr>
            <a:spLocks noGrp="1"/>
          </p:cNvSpPr>
          <p:nvPr/>
        </p:nvSpPr>
        <p:spPr>
          <a:xfrm>
            <a:off x="857250" y="1781175"/>
            <a:ext cx="18364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检查项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C61446-0B83-42E4-B85A-6A0B7BC728FE}"/>
              </a:ext>
            </a:extLst>
          </p:cNvPr>
          <p:cNvSpPr>
            <a:spLocks noGrp="1"/>
          </p:cNvSpPr>
          <p:nvPr/>
        </p:nvSpPr>
        <p:spPr>
          <a:xfrm>
            <a:off x="2788920" y="1695450"/>
            <a:ext cx="1303020" cy="523875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ADAFF5-0EC8-4F2B-9FFD-DF4E9A89AA4F}"/>
              </a:ext>
            </a:extLst>
          </p:cNvPr>
          <p:cNvSpPr>
            <a:spLocks noGrp="1"/>
          </p:cNvSpPr>
          <p:nvPr/>
        </p:nvSpPr>
        <p:spPr>
          <a:xfrm>
            <a:off x="2884170" y="1781175"/>
            <a:ext cx="11125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B66ED55-2007-4573-A5B5-70073A3492F3}"/>
              </a:ext>
            </a:extLst>
          </p:cNvPr>
          <p:cNvSpPr>
            <a:spLocks noGrp="1"/>
          </p:cNvSpPr>
          <p:nvPr/>
        </p:nvSpPr>
        <p:spPr>
          <a:xfrm>
            <a:off x="4091940" y="1695450"/>
            <a:ext cx="3909060" cy="523875"/>
          </a:xfrm>
          <a:prstGeom prst="roundRect">
            <a:avLst>
              <a:gd name="adj" fmla="val 14545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E49D64-E071-4716-9BD4-F25D19B3050E}"/>
              </a:ext>
            </a:extLst>
          </p:cNvPr>
          <p:cNvSpPr>
            <a:spLocks noGrp="1"/>
          </p:cNvSpPr>
          <p:nvPr/>
        </p:nvSpPr>
        <p:spPr>
          <a:xfrm>
            <a:off x="4187190" y="1781175"/>
            <a:ext cx="371856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88CFF9C-55C2-440D-8731-046204F620D8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20269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81B2C-FA50-4A7A-A748-598EF8DC3D76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8364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agent generate --apply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3697128-038F-4676-96C3-191CAC305E50}"/>
              </a:ext>
            </a:extLst>
          </p:cNvPr>
          <p:cNvSpPr>
            <a:spLocks noGrp="1"/>
          </p:cNvSpPr>
          <p:nvPr/>
        </p:nvSpPr>
        <p:spPr>
          <a:xfrm>
            <a:off x="2788920" y="2219325"/>
            <a:ext cx="13030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F7275A-86C0-4C29-B51E-73E856DDDDE4}"/>
              </a:ext>
            </a:extLst>
          </p:cNvPr>
          <p:cNvSpPr>
            <a:spLocks noGrp="1"/>
          </p:cNvSpPr>
          <p:nvPr/>
        </p:nvSpPr>
        <p:spPr>
          <a:xfrm>
            <a:off x="2884170" y="2305050"/>
            <a:ext cx="11125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0BE8EE-77CC-4F71-A736-CE134102CFFC}"/>
              </a:ext>
            </a:extLst>
          </p:cNvPr>
          <p:cNvSpPr>
            <a:spLocks noGrp="1"/>
          </p:cNvSpPr>
          <p:nvPr/>
        </p:nvSpPr>
        <p:spPr>
          <a:xfrm>
            <a:off x="4091940" y="2219325"/>
            <a:ext cx="390906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AF3F62-9093-4677-A8FC-714F1EEB42C1}"/>
              </a:ext>
            </a:extLst>
          </p:cNvPr>
          <p:cNvSpPr>
            <a:spLocks noGrp="1"/>
          </p:cNvSpPr>
          <p:nvPr/>
        </p:nvSpPr>
        <p:spPr>
          <a:xfrm>
            <a:off x="4187190" y="2305050"/>
            <a:ext cx="371856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生成 11 文件，约 4.5 分钟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451FA2A-B4D3-4288-91D1-A8AFE5DBCD26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20269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306B1CB-C3D5-4E3F-A248-3847F7669E1E}"/>
              </a:ext>
            </a:extLst>
          </p:cNvPr>
          <p:cNvSpPr>
            <a:spLocks noGrp="1"/>
          </p:cNvSpPr>
          <p:nvPr/>
        </p:nvSpPr>
        <p:spPr>
          <a:xfrm>
            <a:off x="857250" y="2828925"/>
            <a:ext cx="18364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build / run qemu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5B78BC-9C84-4769-9F0E-542A2D4E581D}"/>
              </a:ext>
            </a:extLst>
          </p:cNvPr>
          <p:cNvSpPr>
            <a:spLocks noGrp="1"/>
          </p:cNvSpPr>
          <p:nvPr/>
        </p:nvSpPr>
        <p:spPr>
          <a:xfrm>
            <a:off x="2788920" y="2743200"/>
            <a:ext cx="13030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12D1F5-531C-447D-8369-87669244C898}"/>
              </a:ext>
            </a:extLst>
          </p:cNvPr>
          <p:cNvSpPr>
            <a:spLocks noGrp="1"/>
          </p:cNvSpPr>
          <p:nvPr/>
        </p:nvSpPr>
        <p:spPr>
          <a:xfrm>
            <a:off x="2884170" y="2828925"/>
            <a:ext cx="11125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863455D-F365-4F22-9198-80E6BC4633E6}"/>
              </a:ext>
            </a:extLst>
          </p:cNvPr>
          <p:cNvSpPr>
            <a:spLocks noGrp="1"/>
          </p:cNvSpPr>
          <p:nvPr/>
        </p:nvSpPr>
        <p:spPr>
          <a:xfrm>
            <a:off x="4091940" y="2743200"/>
            <a:ext cx="390906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3FB3E3-86ED-43A5-9F70-4BE54ADF5E44}"/>
              </a:ext>
            </a:extLst>
          </p:cNvPr>
          <p:cNvSpPr>
            <a:spLocks noGrp="1"/>
          </p:cNvSpPr>
          <p:nvPr/>
        </p:nvSpPr>
        <p:spPr>
          <a:xfrm>
            <a:off x="4187190" y="2828925"/>
            <a:ext cx="371856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输出 boot banner + SBI shutdown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291A5DF-BD49-4946-A34E-9B8057CFD182}"/>
              </a:ext>
            </a:extLst>
          </p:cNvPr>
          <p:cNvSpPr>
            <a:spLocks noGrp="1"/>
          </p:cNvSpPr>
          <p:nvPr/>
        </p:nvSpPr>
        <p:spPr>
          <a:xfrm>
            <a:off x="762000" y="3267075"/>
            <a:ext cx="20269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80FAB3-AA7A-4A86-85C6-7E0D4CF448A9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18364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verify public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5DA628F-B14E-4EA8-9832-52298E9920BE}"/>
              </a:ext>
            </a:extLst>
          </p:cNvPr>
          <p:cNvSpPr>
            <a:spLocks noGrp="1"/>
          </p:cNvSpPr>
          <p:nvPr/>
        </p:nvSpPr>
        <p:spPr>
          <a:xfrm>
            <a:off x="2788920" y="3267075"/>
            <a:ext cx="13030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1E57FB0-2B2C-4128-9CD7-625A0529FB0A}"/>
              </a:ext>
            </a:extLst>
          </p:cNvPr>
          <p:cNvSpPr>
            <a:spLocks noGrp="1"/>
          </p:cNvSpPr>
          <p:nvPr/>
        </p:nvSpPr>
        <p:spPr>
          <a:xfrm>
            <a:off x="2884170" y="3352800"/>
            <a:ext cx="11125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56DD2C6-9F4E-4420-80E2-D06C21140625}"/>
              </a:ext>
            </a:extLst>
          </p:cNvPr>
          <p:cNvSpPr>
            <a:spLocks noGrp="1"/>
          </p:cNvSpPr>
          <p:nvPr/>
        </p:nvSpPr>
        <p:spPr>
          <a:xfrm>
            <a:off x="4091940" y="3267075"/>
            <a:ext cx="390906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A8A418-02E0-4D4A-B6AE-24BCC9696E58}"/>
              </a:ext>
            </a:extLst>
          </p:cNvPr>
          <p:cNvSpPr>
            <a:spLocks noGrp="1"/>
          </p:cNvSpPr>
          <p:nvPr/>
        </p:nvSpPr>
        <p:spPr>
          <a:xfrm>
            <a:off x="4187190" y="3352800"/>
            <a:ext cx="371856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3/3 测试通过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9466D49-BC88-4B92-BB73-2FEF20642D0B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20269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659A67D-FF70-4940-BC0C-306BEB40EB97}"/>
              </a:ext>
            </a:extLst>
          </p:cNvPr>
          <p:cNvSpPr>
            <a:spLocks noGrp="1"/>
          </p:cNvSpPr>
          <p:nvPr/>
        </p:nvSpPr>
        <p:spPr>
          <a:xfrm>
            <a:off x="857250" y="3876675"/>
            <a:ext cx="18364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kb add/search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3002818-3631-4553-85AF-800B8982C5B5}"/>
              </a:ext>
            </a:extLst>
          </p:cNvPr>
          <p:cNvSpPr>
            <a:spLocks noGrp="1"/>
          </p:cNvSpPr>
          <p:nvPr/>
        </p:nvSpPr>
        <p:spPr>
          <a:xfrm>
            <a:off x="2788920" y="3790950"/>
            <a:ext cx="13030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8BEEC4-17C4-4022-AF5E-E3DA77621E1A}"/>
              </a:ext>
            </a:extLst>
          </p:cNvPr>
          <p:cNvSpPr>
            <a:spLocks noGrp="1"/>
          </p:cNvSpPr>
          <p:nvPr/>
        </p:nvSpPr>
        <p:spPr>
          <a:xfrm>
            <a:off x="2884170" y="3876675"/>
            <a:ext cx="11125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1D8AB9-3B76-4126-B3CF-0388F2F960E0}"/>
              </a:ext>
            </a:extLst>
          </p:cNvPr>
          <p:cNvSpPr>
            <a:spLocks noGrp="1"/>
          </p:cNvSpPr>
          <p:nvPr/>
        </p:nvSpPr>
        <p:spPr>
          <a:xfrm>
            <a:off x="4091940" y="3790950"/>
            <a:ext cx="390906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4CAD578-100D-4206-8BC7-9C0EF5134E80}"/>
              </a:ext>
            </a:extLst>
          </p:cNvPr>
          <p:cNvSpPr>
            <a:spLocks noGrp="1"/>
          </p:cNvSpPr>
          <p:nvPr/>
        </p:nvSpPr>
        <p:spPr>
          <a:xfrm>
            <a:off x="4187190" y="3876675"/>
            <a:ext cx="371856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6 sources indexed，搜索可用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A0D2827-66C7-4304-9F28-E556C7AAD8EA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20269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466E58-6D80-402D-A760-F97DC44AC010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8364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agent debug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2A4044A-DB44-4677-9177-E00D892DC8A4}"/>
              </a:ext>
            </a:extLst>
          </p:cNvPr>
          <p:cNvSpPr>
            <a:spLocks noGrp="1"/>
          </p:cNvSpPr>
          <p:nvPr/>
        </p:nvSpPr>
        <p:spPr>
          <a:xfrm>
            <a:off x="2788920" y="4314825"/>
            <a:ext cx="130302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9E236E-2D84-4883-A8AF-3FCF34CDC37C}"/>
              </a:ext>
            </a:extLst>
          </p:cNvPr>
          <p:cNvSpPr>
            <a:spLocks noGrp="1"/>
          </p:cNvSpPr>
          <p:nvPr/>
        </p:nvSpPr>
        <p:spPr>
          <a:xfrm>
            <a:off x="2884170" y="4400550"/>
            <a:ext cx="111252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产物成功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17918A3-9201-429A-A4CE-CE15CDCD1C03}"/>
              </a:ext>
            </a:extLst>
          </p:cNvPr>
          <p:cNvSpPr>
            <a:spLocks noGrp="1"/>
          </p:cNvSpPr>
          <p:nvPr/>
        </p:nvSpPr>
        <p:spPr>
          <a:xfrm>
            <a:off x="4091940" y="4314825"/>
            <a:ext cx="3909060" cy="523875"/>
          </a:xfrm>
          <a:prstGeom prst="roundRect">
            <a:avLst>
              <a:gd name="adj" fmla="val 14545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29246BA-5A9E-4B70-AAFF-BE2C3C5BA76E}"/>
              </a:ext>
            </a:extLst>
          </p:cNvPr>
          <p:cNvSpPr>
            <a:spLocks noGrp="1"/>
          </p:cNvSpPr>
          <p:nvPr/>
        </p:nvSpPr>
        <p:spPr>
          <a:xfrm>
            <a:off x="4187190" y="4400550"/>
            <a:ext cx="371856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结构化输出校验过严导致 status failed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6DB343E3-4C7F-4B2E-B8E1-542232F595A0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476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D379370-D6F7-4AB4-9962-E2C868D46DE5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B79EEFA-E9A9-4ED6-A239-3C27F8156314}"/>
              </a:ext>
            </a:extLst>
          </p:cNvPr>
          <p:cNvSpPr>
            <a:spLocks noGrp="1"/>
          </p:cNvSpPr>
          <p:nvPr/>
        </p:nvSpPr>
        <p:spPr>
          <a:xfrm>
            <a:off x="8705850" y="200025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发现的问题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FE052D0-8349-4B3F-9C49-BC54BD0DB6EE}"/>
              </a:ext>
            </a:extLst>
          </p:cNvPr>
          <p:cNvSpPr>
            <a:spLocks noGrp="1"/>
          </p:cNvSpPr>
          <p:nvPr/>
        </p:nvSpPr>
        <p:spPr>
          <a:xfrm>
            <a:off x="8705850" y="240030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Spec-to-build 连线、LLM 降级、oracle 强度都被真实流程暴露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C1764AC-C8BB-4F7F-96FC-878806736A69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2476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66E59A9-F707-4BD5-B19B-760068358FF1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B882DFD-563B-4FF5-ACAB-244019735FD1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教学价值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90458CF-D82A-433A-AB98-602C8373B678}"/>
              </a:ext>
            </a:extLst>
          </p:cNvPr>
          <p:cNvSpPr>
            <a:spLocks noGrp="1"/>
          </p:cNvSpPr>
          <p:nvPr/>
        </p:nvSpPr>
        <p:spPr>
          <a:xfrm>
            <a:off x="8705850" y="38290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学生不仅交成果，也交可复盘的工程判断。</a:t>
            </a:r>
          </a:p>
        </p:txBody>
      </p:sp>
    </p:spTree>
    <p:extLst>
      <p:ext uri="{BB962C8B-B14F-4D97-AF65-F5344CB8AC3E}">
        <p14:creationId xmlns:p14="http://schemas.microsoft.com/office/powerpoint/2010/main" val="431094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59FFAC21-37B6-4AFF-8581-654A1FDEDD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F21BE4F-947F-4485-8F68-3B651491620F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2A5E14A-50B6-4171-8A82-68DCC7603373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9429E8-F71D-4587-AA97-DA77FF67AFE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综合对比：核心差异在“可设计、可治理、可审查”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263ED1-0173-4B99-A071-7885C6C87F2F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不是替代经典实验，而是补齐 AI 时代的教学缺口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DDC7C1-A321-423A-AAD3-75497C1F99A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E44029-609E-430A-9227-5C882C9C777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Comparison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A5DA39-1B63-4BCB-9651-9FDFF271FB70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BDFED3A-CC8B-4A05-8077-C21DC8C29BD0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884807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381847-B0B4-4D4D-A6B1-F75CDC1307FA}"/>
              </a:ext>
            </a:extLst>
          </p:cNvPr>
          <p:cNvSpPr>
            <a:spLocks noGrp="1"/>
          </p:cNvSpPr>
          <p:nvPr/>
        </p:nvSpPr>
        <p:spPr>
          <a:xfrm>
            <a:off x="647700" y="1743075"/>
            <a:ext cx="169430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FC7ACB9-2C27-4B82-A493-6CFA90D55D95}"/>
              </a:ext>
            </a:extLst>
          </p:cNvPr>
          <p:cNvSpPr>
            <a:spLocks noGrp="1"/>
          </p:cNvSpPr>
          <p:nvPr/>
        </p:nvSpPr>
        <p:spPr>
          <a:xfrm>
            <a:off x="2437257" y="1657350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5322AD-1639-4F2E-8071-986534543353}"/>
              </a:ext>
            </a:extLst>
          </p:cNvPr>
          <p:cNvSpPr>
            <a:spLocks noGrp="1"/>
          </p:cNvSpPr>
          <p:nvPr/>
        </p:nvSpPr>
        <p:spPr>
          <a:xfrm>
            <a:off x="2532507" y="1743075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MIT 6.S081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59CC836-1C08-479E-8375-D04D0B1A24B7}"/>
              </a:ext>
            </a:extLst>
          </p:cNvPr>
          <p:cNvSpPr>
            <a:spLocks noGrp="1"/>
          </p:cNvSpPr>
          <p:nvPr/>
        </p:nvSpPr>
        <p:spPr>
          <a:xfrm>
            <a:off x="4432935" y="1657350"/>
            <a:ext cx="1773936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54155E-E146-41E0-8674-4EFB894D7223}"/>
              </a:ext>
            </a:extLst>
          </p:cNvPr>
          <p:cNvSpPr>
            <a:spLocks noGrp="1"/>
          </p:cNvSpPr>
          <p:nvPr/>
        </p:nvSpPr>
        <p:spPr>
          <a:xfrm>
            <a:off x="4528185" y="1743075"/>
            <a:ext cx="1583436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rCore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800496A-8A95-48B7-AB8B-B0C236569352}"/>
              </a:ext>
            </a:extLst>
          </p:cNvPr>
          <p:cNvSpPr>
            <a:spLocks noGrp="1"/>
          </p:cNvSpPr>
          <p:nvPr/>
        </p:nvSpPr>
        <p:spPr>
          <a:xfrm>
            <a:off x="6206871" y="1657350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7947FD-7201-46CB-81BB-60D9B18810F2}"/>
              </a:ext>
            </a:extLst>
          </p:cNvPr>
          <p:cNvSpPr>
            <a:spLocks noGrp="1"/>
          </p:cNvSpPr>
          <p:nvPr/>
        </p:nvSpPr>
        <p:spPr>
          <a:xfrm>
            <a:off x="6302121" y="1743075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裸 AI 编程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06A3B6-DEB5-47A5-9A9C-308B75447974}"/>
              </a:ext>
            </a:extLst>
          </p:cNvPr>
          <p:cNvSpPr>
            <a:spLocks noGrp="1"/>
          </p:cNvSpPr>
          <p:nvPr/>
        </p:nvSpPr>
        <p:spPr>
          <a:xfrm>
            <a:off x="8202549" y="1657350"/>
            <a:ext cx="3437001" cy="587375"/>
          </a:xfrm>
          <a:prstGeom prst="roundRect">
            <a:avLst>
              <a:gd name="adj" fmla="val 12973"/>
            </a:avLst>
          </a:prstGeom>
          <a:solidFill>
            <a:srgbClr val="EAF4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75FA51-4812-4BA3-A1A7-4354A11BC44C}"/>
              </a:ext>
            </a:extLst>
          </p:cNvPr>
          <p:cNvSpPr>
            <a:spLocks noGrp="1"/>
          </p:cNvSpPr>
          <p:nvPr/>
        </p:nvSpPr>
        <p:spPr>
          <a:xfrm>
            <a:off x="8297799" y="1743075"/>
            <a:ext cx="3246501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VeriSpecOSLab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16A6D39-5D6A-4954-8C8B-FC8EED2B7117}"/>
              </a:ext>
            </a:extLst>
          </p:cNvPr>
          <p:cNvSpPr>
            <a:spLocks noGrp="1"/>
          </p:cNvSpPr>
          <p:nvPr/>
        </p:nvSpPr>
        <p:spPr>
          <a:xfrm>
            <a:off x="552450" y="2244725"/>
            <a:ext cx="188480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639363-995C-4F4F-BD38-DBFF1BB7D186}"/>
              </a:ext>
            </a:extLst>
          </p:cNvPr>
          <p:cNvSpPr>
            <a:spLocks noGrp="1"/>
          </p:cNvSpPr>
          <p:nvPr/>
        </p:nvSpPr>
        <p:spPr>
          <a:xfrm>
            <a:off x="647700" y="2330450"/>
            <a:ext cx="169430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内核自由度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7A406A7-A611-40A8-B5C9-7A32ECF6A852}"/>
              </a:ext>
            </a:extLst>
          </p:cNvPr>
          <p:cNvSpPr>
            <a:spLocks noGrp="1"/>
          </p:cNvSpPr>
          <p:nvPr/>
        </p:nvSpPr>
        <p:spPr>
          <a:xfrm>
            <a:off x="2437257" y="2244725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A4ABCB-A95F-481C-B3AE-C78CC979D198}"/>
              </a:ext>
            </a:extLst>
          </p:cNvPr>
          <p:cNvSpPr>
            <a:spLocks noGrp="1"/>
          </p:cNvSpPr>
          <p:nvPr/>
        </p:nvSpPr>
        <p:spPr>
          <a:xfrm>
            <a:off x="2532507" y="2330450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固定宏内核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497DDB8-F293-4E92-B760-70602FAFC7CE}"/>
              </a:ext>
            </a:extLst>
          </p:cNvPr>
          <p:cNvSpPr>
            <a:spLocks noGrp="1"/>
          </p:cNvSpPr>
          <p:nvPr/>
        </p:nvSpPr>
        <p:spPr>
          <a:xfrm>
            <a:off x="4432935" y="2244725"/>
            <a:ext cx="1773936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A074C9-F321-4FB3-801F-B7ABBFE995B9}"/>
              </a:ext>
            </a:extLst>
          </p:cNvPr>
          <p:cNvSpPr>
            <a:spLocks noGrp="1"/>
          </p:cNvSpPr>
          <p:nvPr/>
        </p:nvSpPr>
        <p:spPr>
          <a:xfrm>
            <a:off x="4528185" y="2330450"/>
            <a:ext cx="1583436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固定框架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339A981-9297-482D-ABB0-687F24687682}"/>
              </a:ext>
            </a:extLst>
          </p:cNvPr>
          <p:cNvSpPr>
            <a:spLocks noGrp="1"/>
          </p:cNvSpPr>
          <p:nvPr/>
        </p:nvSpPr>
        <p:spPr>
          <a:xfrm>
            <a:off x="6206871" y="2244725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CFAAA4-128E-4250-91B5-EB86325F080A}"/>
              </a:ext>
            </a:extLst>
          </p:cNvPr>
          <p:cNvSpPr>
            <a:spLocks noGrp="1"/>
          </p:cNvSpPr>
          <p:nvPr/>
        </p:nvSpPr>
        <p:spPr>
          <a:xfrm>
            <a:off x="6302121" y="2330450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不限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A2F1FF4-FEBB-4668-AD69-FF023184B82E}"/>
              </a:ext>
            </a:extLst>
          </p:cNvPr>
          <p:cNvSpPr>
            <a:spLocks noGrp="1"/>
          </p:cNvSpPr>
          <p:nvPr/>
        </p:nvSpPr>
        <p:spPr>
          <a:xfrm>
            <a:off x="8202549" y="2244725"/>
            <a:ext cx="3437001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2B5013E-D7EA-4603-B255-FF8FA7A79F9B}"/>
              </a:ext>
            </a:extLst>
          </p:cNvPr>
          <p:cNvSpPr>
            <a:spLocks noGrp="1"/>
          </p:cNvSpPr>
          <p:nvPr/>
        </p:nvSpPr>
        <p:spPr>
          <a:xfrm>
            <a:off x="8297799" y="2330450"/>
            <a:ext cx="3246501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5 维自主设计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D921CCB-A444-4AC9-9113-979E78E574E2}"/>
              </a:ext>
            </a:extLst>
          </p:cNvPr>
          <p:cNvSpPr>
            <a:spLocks noGrp="1"/>
          </p:cNvSpPr>
          <p:nvPr/>
        </p:nvSpPr>
        <p:spPr>
          <a:xfrm>
            <a:off x="552450" y="2832100"/>
            <a:ext cx="188480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80BCC01-8A81-47DF-8BE9-3A8566B330C9}"/>
              </a:ext>
            </a:extLst>
          </p:cNvPr>
          <p:cNvSpPr>
            <a:spLocks noGrp="1"/>
          </p:cNvSpPr>
          <p:nvPr/>
        </p:nvSpPr>
        <p:spPr>
          <a:xfrm>
            <a:off x="647700" y="2917825"/>
            <a:ext cx="169430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架构文档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8DBC633-62D5-4A93-A758-DB74690103B1}"/>
              </a:ext>
            </a:extLst>
          </p:cNvPr>
          <p:cNvSpPr>
            <a:spLocks noGrp="1"/>
          </p:cNvSpPr>
          <p:nvPr/>
        </p:nvSpPr>
        <p:spPr>
          <a:xfrm>
            <a:off x="2437257" y="2832100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C57870-19DE-4D1C-B1B7-EF6BE59C66AA}"/>
              </a:ext>
            </a:extLst>
          </p:cNvPr>
          <p:cNvSpPr>
            <a:spLocks noGrp="1"/>
          </p:cNvSpPr>
          <p:nvPr/>
        </p:nvSpPr>
        <p:spPr>
          <a:xfrm>
            <a:off x="2532507" y="2917825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601E93B-6278-40FC-91D7-FBBD1D6E6310}"/>
              </a:ext>
            </a:extLst>
          </p:cNvPr>
          <p:cNvSpPr>
            <a:spLocks noGrp="1"/>
          </p:cNvSpPr>
          <p:nvPr/>
        </p:nvSpPr>
        <p:spPr>
          <a:xfrm>
            <a:off x="4432935" y="2832100"/>
            <a:ext cx="1773936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365DAF-7AC6-4CBC-A2BD-0A276E9BD1D0}"/>
              </a:ext>
            </a:extLst>
          </p:cNvPr>
          <p:cNvSpPr>
            <a:spLocks noGrp="1"/>
          </p:cNvSpPr>
          <p:nvPr/>
        </p:nvSpPr>
        <p:spPr>
          <a:xfrm>
            <a:off x="4528185" y="2917825"/>
            <a:ext cx="1583436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弱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692D986-FD3A-44AE-B57C-BDEB5B95F820}"/>
              </a:ext>
            </a:extLst>
          </p:cNvPr>
          <p:cNvSpPr>
            <a:spLocks noGrp="1"/>
          </p:cNvSpPr>
          <p:nvPr/>
        </p:nvSpPr>
        <p:spPr>
          <a:xfrm>
            <a:off x="6206871" y="2832100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4EF1119-9DCB-4E93-97D5-F562B6326626}"/>
              </a:ext>
            </a:extLst>
          </p:cNvPr>
          <p:cNvSpPr>
            <a:spLocks noGrp="1"/>
          </p:cNvSpPr>
          <p:nvPr/>
        </p:nvSpPr>
        <p:spPr>
          <a:xfrm>
            <a:off x="6302121" y="2917825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无系统支持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A567D02-081B-47CD-8C9D-130968748ED4}"/>
              </a:ext>
            </a:extLst>
          </p:cNvPr>
          <p:cNvSpPr>
            <a:spLocks noGrp="1"/>
          </p:cNvSpPr>
          <p:nvPr/>
        </p:nvSpPr>
        <p:spPr>
          <a:xfrm>
            <a:off x="8202549" y="2832100"/>
            <a:ext cx="3437001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9DA7B91-D158-4FC7-9EC7-381EFE374C04}"/>
              </a:ext>
            </a:extLst>
          </p:cNvPr>
          <p:cNvSpPr>
            <a:spLocks noGrp="1"/>
          </p:cNvSpPr>
          <p:nvPr/>
        </p:nvSpPr>
        <p:spPr>
          <a:xfrm>
            <a:off x="8297799" y="2917825"/>
            <a:ext cx="3246501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Seed + ADR + Slice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319F8AE-70D5-4600-8246-00018DD7EEF1}"/>
              </a:ext>
            </a:extLst>
          </p:cNvPr>
          <p:cNvSpPr>
            <a:spLocks noGrp="1"/>
          </p:cNvSpPr>
          <p:nvPr/>
        </p:nvSpPr>
        <p:spPr>
          <a:xfrm>
            <a:off x="552450" y="3419475"/>
            <a:ext cx="188480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279FFBA-3C94-49A6-BDB5-62E8537AB454}"/>
              </a:ext>
            </a:extLst>
          </p:cNvPr>
          <p:cNvSpPr>
            <a:spLocks noGrp="1"/>
          </p:cNvSpPr>
          <p:nvPr/>
        </p:nvSpPr>
        <p:spPr>
          <a:xfrm>
            <a:off x="647700" y="3505200"/>
            <a:ext cx="169430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AI 治理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63D836-797B-41AB-935E-D8A8647B5156}"/>
              </a:ext>
            </a:extLst>
          </p:cNvPr>
          <p:cNvSpPr>
            <a:spLocks noGrp="1"/>
          </p:cNvSpPr>
          <p:nvPr/>
        </p:nvSpPr>
        <p:spPr>
          <a:xfrm>
            <a:off x="2437257" y="3419475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B7944D3-06A2-4FFF-99D9-E93FDBA9F4C5}"/>
              </a:ext>
            </a:extLst>
          </p:cNvPr>
          <p:cNvSpPr>
            <a:spLocks noGrp="1"/>
          </p:cNvSpPr>
          <p:nvPr/>
        </p:nvSpPr>
        <p:spPr>
          <a:xfrm>
            <a:off x="2532507" y="3505200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未涉及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C923CCB-50E4-44BE-8251-E9796940BD63}"/>
              </a:ext>
            </a:extLst>
          </p:cNvPr>
          <p:cNvSpPr>
            <a:spLocks noGrp="1"/>
          </p:cNvSpPr>
          <p:nvPr/>
        </p:nvSpPr>
        <p:spPr>
          <a:xfrm>
            <a:off x="4432935" y="3419475"/>
            <a:ext cx="1773936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06BA5D2-81AF-4C2F-A9EA-CB763437B10D}"/>
              </a:ext>
            </a:extLst>
          </p:cNvPr>
          <p:cNvSpPr>
            <a:spLocks noGrp="1"/>
          </p:cNvSpPr>
          <p:nvPr/>
        </p:nvSpPr>
        <p:spPr>
          <a:xfrm>
            <a:off x="4528185" y="3505200"/>
            <a:ext cx="1583436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未涉及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45EA166-05EF-4653-9470-A6209FD36005}"/>
              </a:ext>
            </a:extLst>
          </p:cNvPr>
          <p:cNvSpPr>
            <a:spLocks noGrp="1"/>
          </p:cNvSpPr>
          <p:nvPr/>
        </p:nvSpPr>
        <p:spPr>
          <a:xfrm>
            <a:off x="6206871" y="3419475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5C8A987-66F8-4229-B5E4-73E472CF74CA}"/>
              </a:ext>
            </a:extLst>
          </p:cNvPr>
          <p:cNvSpPr>
            <a:spLocks noGrp="1"/>
          </p:cNvSpPr>
          <p:nvPr/>
        </p:nvSpPr>
        <p:spPr>
          <a:xfrm>
            <a:off x="6302121" y="3505200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无约束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DE5D5A1E-BDC9-497E-9069-6610AE14DD38}"/>
              </a:ext>
            </a:extLst>
          </p:cNvPr>
          <p:cNvSpPr>
            <a:spLocks noGrp="1"/>
          </p:cNvSpPr>
          <p:nvPr/>
        </p:nvSpPr>
        <p:spPr>
          <a:xfrm>
            <a:off x="8202549" y="3419475"/>
            <a:ext cx="3437001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2B3813-3C41-4CE6-A7A0-86D9755D6724}"/>
              </a:ext>
            </a:extLst>
          </p:cNvPr>
          <p:cNvSpPr>
            <a:spLocks noGrp="1"/>
          </p:cNvSpPr>
          <p:nvPr/>
        </p:nvSpPr>
        <p:spPr>
          <a:xfrm>
            <a:off x="8297799" y="3505200"/>
            <a:ext cx="3246501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7 身份 + StageGate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B71DF0E-54DA-4069-B778-32815688AE61}"/>
              </a:ext>
            </a:extLst>
          </p:cNvPr>
          <p:cNvSpPr>
            <a:spLocks noGrp="1"/>
          </p:cNvSpPr>
          <p:nvPr/>
        </p:nvSpPr>
        <p:spPr>
          <a:xfrm>
            <a:off x="552450" y="4006850"/>
            <a:ext cx="188480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612FE2-AF08-475F-BE0A-E65D053F0CC1}"/>
              </a:ext>
            </a:extLst>
          </p:cNvPr>
          <p:cNvSpPr>
            <a:spLocks noGrp="1"/>
          </p:cNvSpPr>
          <p:nvPr/>
        </p:nvSpPr>
        <p:spPr>
          <a:xfrm>
            <a:off x="647700" y="4092575"/>
            <a:ext cx="169430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过程评价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E208B02-1686-442F-8073-E8E2835E3C9C}"/>
              </a:ext>
            </a:extLst>
          </p:cNvPr>
          <p:cNvSpPr>
            <a:spLocks noGrp="1"/>
          </p:cNvSpPr>
          <p:nvPr/>
        </p:nvSpPr>
        <p:spPr>
          <a:xfrm>
            <a:off x="2437257" y="4006850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A06CC9B-A4F0-482C-BB36-20CDE7DF819E}"/>
              </a:ext>
            </a:extLst>
          </p:cNvPr>
          <p:cNvSpPr>
            <a:spLocks noGrp="1"/>
          </p:cNvSpPr>
          <p:nvPr/>
        </p:nvSpPr>
        <p:spPr>
          <a:xfrm>
            <a:off x="2532507" y="4092575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少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7C3443A-8560-43BB-B41C-5316314E5739}"/>
              </a:ext>
            </a:extLst>
          </p:cNvPr>
          <p:cNvSpPr>
            <a:spLocks noGrp="1"/>
          </p:cNvSpPr>
          <p:nvPr/>
        </p:nvSpPr>
        <p:spPr>
          <a:xfrm>
            <a:off x="4432935" y="4006850"/>
            <a:ext cx="1773936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945DF6A-1CF9-4F74-A95F-DC88DE90A559}"/>
              </a:ext>
            </a:extLst>
          </p:cNvPr>
          <p:cNvSpPr>
            <a:spLocks noGrp="1"/>
          </p:cNvSpPr>
          <p:nvPr/>
        </p:nvSpPr>
        <p:spPr>
          <a:xfrm>
            <a:off x="4528185" y="4092575"/>
            <a:ext cx="1583436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少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518A3BF-2E17-4CDC-9D4C-24C2318FF29D}"/>
              </a:ext>
            </a:extLst>
          </p:cNvPr>
          <p:cNvSpPr>
            <a:spLocks noGrp="1"/>
          </p:cNvSpPr>
          <p:nvPr/>
        </p:nvSpPr>
        <p:spPr>
          <a:xfrm>
            <a:off x="6206871" y="4006850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1CF6721-39FF-41C7-AA42-6DB9BBC54CC4}"/>
              </a:ext>
            </a:extLst>
          </p:cNvPr>
          <p:cNvSpPr>
            <a:spLocks noGrp="1"/>
          </p:cNvSpPr>
          <p:nvPr/>
        </p:nvSpPr>
        <p:spPr>
          <a:xfrm>
            <a:off x="6302121" y="4092575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C286D62C-F472-41E7-9DF1-460A6736983E}"/>
              </a:ext>
            </a:extLst>
          </p:cNvPr>
          <p:cNvSpPr>
            <a:spLocks noGrp="1"/>
          </p:cNvSpPr>
          <p:nvPr/>
        </p:nvSpPr>
        <p:spPr>
          <a:xfrm>
            <a:off x="8202549" y="4006850"/>
            <a:ext cx="3437001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A4FB99-AF14-4929-A745-6D0179A5A65E}"/>
              </a:ext>
            </a:extLst>
          </p:cNvPr>
          <p:cNvSpPr>
            <a:spLocks noGrp="1"/>
          </p:cNvSpPr>
          <p:nvPr/>
        </p:nvSpPr>
        <p:spPr>
          <a:xfrm>
            <a:off x="8297799" y="4092575"/>
            <a:ext cx="3246501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ledger + evidence map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74AA8758-362F-4F68-89C2-839AEBB64777}"/>
              </a:ext>
            </a:extLst>
          </p:cNvPr>
          <p:cNvSpPr>
            <a:spLocks noGrp="1"/>
          </p:cNvSpPr>
          <p:nvPr/>
        </p:nvSpPr>
        <p:spPr>
          <a:xfrm>
            <a:off x="552450" y="4594225"/>
            <a:ext cx="1884807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121B499-DF28-45C8-BCC0-813F39C8A3AC}"/>
              </a:ext>
            </a:extLst>
          </p:cNvPr>
          <p:cNvSpPr>
            <a:spLocks noGrp="1"/>
          </p:cNvSpPr>
          <p:nvPr/>
        </p:nvSpPr>
        <p:spPr>
          <a:xfrm>
            <a:off x="647700" y="4679950"/>
            <a:ext cx="1694307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教师审查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3B4B0607-B92A-46DF-B88F-5CF62EE3CB2B}"/>
              </a:ext>
            </a:extLst>
          </p:cNvPr>
          <p:cNvSpPr>
            <a:spLocks noGrp="1"/>
          </p:cNvSpPr>
          <p:nvPr/>
        </p:nvSpPr>
        <p:spPr>
          <a:xfrm>
            <a:off x="2437257" y="4594225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8116E67-F1E1-49E8-A77A-C2B0771E1F28}"/>
              </a:ext>
            </a:extLst>
          </p:cNvPr>
          <p:cNvSpPr>
            <a:spLocks noGrp="1"/>
          </p:cNvSpPr>
          <p:nvPr/>
        </p:nvSpPr>
        <p:spPr>
          <a:xfrm>
            <a:off x="2532507" y="4679950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代码/测试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A35A4C4-9DD8-43DB-9A03-92D7CA08BF90}"/>
              </a:ext>
            </a:extLst>
          </p:cNvPr>
          <p:cNvSpPr>
            <a:spLocks noGrp="1"/>
          </p:cNvSpPr>
          <p:nvPr/>
        </p:nvSpPr>
        <p:spPr>
          <a:xfrm>
            <a:off x="4432935" y="4594225"/>
            <a:ext cx="1773936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CE59746-FA42-4476-81E1-45252457E495}"/>
              </a:ext>
            </a:extLst>
          </p:cNvPr>
          <p:cNvSpPr>
            <a:spLocks noGrp="1"/>
          </p:cNvSpPr>
          <p:nvPr/>
        </p:nvSpPr>
        <p:spPr>
          <a:xfrm>
            <a:off x="4528185" y="4679950"/>
            <a:ext cx="1583436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代码/测试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542557C2-C645-4826-8922-03D837FFE776}"/>
              </a:ext>
            </a:extLst>
          </p:cNvPr>
          <p:cNvSpPr>
            <a:spLocks noGrp="1"/>
          </p:cNvSpPr>
          <p:nvPr/>
        </p:nvSpPr>
        <p:spPr>
          <a:xfrm>
            <a:off x="6206871" y="4594225"/>
            <a:ext cx="1995678" cy="587375"/>
          </a:xfrm>
          <a:prstGeom prst="roundRect">
            <a:avLst>
              <a:gd name="adj" fmla="val 1297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9AE1BB9-4343-4B9D-9FE8-B89C0667CD13}"/>
              </a:ext>
            </a:extLst>
          </p:cNvPr>
          <p:cNvSpPr>
            <a:spLocks noGrp="1"/>
          </p:cNvSpPr>
          <p:nvPr/>
        </p:nvSpPr>
        <p:spPr>
          <a:xfrm>
            <a:off x="6302121" y="4679950"/>
            <a:ext cx="1805178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难判断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FB8EE9E8-F319-4972-BC83-A24715DEFDFC}"/>
              </a:ext>
            </a:extLst>
          </p:cNvPr>
          <p:cNvSpPr>
            <a:spLocks noGrp="1"/>
          </p:cNvSpPr>
          <p:nvPr/>
        </p:nvSpPr>
        <p:spPr>
          <a:xfrm>
            <a:off x="8202549" y="4594225"/>
            <a:ext cx="3437001" cy="587375"/>
          </a:xfrm>
          <a:prstGeom prst="roundRect">
            <a:avLst>
              <a:gd name="adj" fmla="val 12973"/>
            </a:avLst>
          </a:prstGeom>
          <a:solidFill>
            <a:srgbClr val="F2FBF7"/>
          </a:solidFill>
          <a:ln w="9525">
            <a:solidFill>
              <a:srgbClr val="D7E4F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2B0F28E-71E5-483A-85ED-DDDC3E50E7DE}"/>
              </a:ext>
            </a:extLst>
          </p:cNvPr>
          <p:cNvSpPr>
            <a:spLocks noGrp="1"/>
          </p:cNvSpPr>
          <p:nvPr/>
        </p:nvSpPr>
        <p:spPr>
          <a:xfrm>
            <a:off x="8297799" y="4679950"/>
            <a:ext cx="3246501" cy="473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设计理据 + 审计链</a:t>
            </a:r>
          </a:p>
        </p:txBody>
      </p:sp>
    </p:spTree>
    <p:extLst>
      <p:ext uri="{BB962C8B-B14F-4D97-AF65-F5344CB8AC3E}">
        <p14:creationId xmlns:p14="http://schemas.microsoft.com/office/powerpoint/2010/main" val="2049506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C4EABA0-0819-4F8C-831F-B80BE8461B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F218AED-4814-4345-9ABD-4E87620946DC}"/>
              </a:ext>
            </a:extLst>
          </p:cNvPr>
          <p:cNvSpPr>
            <a:spLocks noGrp="1"/>
          </p:cNvSpPr>
          <p:nvPr/>
        </p:nvSpPr>
        <p:spPr>
          <a:xfrm>
            <a:off x="8667750" y="-1047750"/>
            <a:ext cx="4476750" cy="2476500"/>
          </a:xfrm>
          <a:prstGeom prst="roundRect">
            <a:avLst>
              <a:gd name="adj" fmla="val 6154"/>
            </a:avLst>
          </a:prstGeom>
          <a:solidFill>
            <a:srgbClr val="EEF6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4314271-76B4-494F-9AB0-40CD5A505628}"/>
              </a:ext>
            </a:extLst>
          </p:cNvPr>
          <p:cNvSpPr>
            <a:spLocks noGrp="1"/>
          </p:cNvSpPr>
          <p:nvPr/>
        </p:nvSpPr>
        <p:spPr>
          <a:xfrm>
            <a:off x="-1047750" y="4953000"/>
            <a:ext cx="4000500" cy="228600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B37C77-0F97-4F0E-9223-1DE8C5C5E58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02033"/>
                </a:solidFill>
                <a:latin typeface="Microsoft YaHei UI"/>
                <a:ea typeface="Microsoft YaHei UI"/>
                <a:cs typeface="Microsoft YaHei UI"/>
              </a:rPr>
              <a:t>总结：让每个学生设计自己的 OS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9C14BB-D0A1-4898-997F-AF22440D2A9F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AI 在约束下辅助，教师审视设计思维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AFE6C4-9F34-463E-ADFA-3E9760F44C4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34700" cy="19050"/>
          </a:xfrm>
          <a:prstGeom prst="roundRect">
            <a:avLst>
              <a:gd name="adj" fmla="val 50000"/>
            </a:avLst>
          </a:prstGeom>
          <a:solidFill>
            <a:srgbClr val="D7E4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31BFAD-9F65-4FB8-B654-6F28CFFE6F1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Closing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3AFD13-2F78-4D4C-A92C-0427BF96012E}"/>
              </a:ext>
            </a:extLst>
          </p:cNvPr>
          <p:cNvSpPr>
            <a:spLocks noGrp="1"/>
          </p:cNvSpPr>
          <p:nvPr/>
        </p:nvSpPr>
        <p:spPr>
          <a:xfrm>
            <a:off x="11029950" y="64008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D09D5C-656C-4ECE-81AC-7202125BBDE5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VeriSpecOSLab 的核心贡献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DA917F6-632E-4601-9035-0391AF15F930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85725" cy="85725"/>
          </a:xfrm>
          <a:prstGeom prst="ellipse">
            <a:avLst/>
          </a:prstGeom>
          <a:solidFill>
            <a:srgbClr val="0078D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04C999-1633-4997-B306-74EDDA49449B}"/>
              </a:ext>
            </a:extLst>
          </p:cNvPr>
          <p:cNvSpPr>
            <a:spLocks noGrp="1"/>
          </p:cNvSpPr>
          <p:nvPr/>
        </p:nvSpPr>
        <p:spPr>
          <a:xfrm>
            <a:off x="1257300" y="2381250"/>
            <a:ext cx="607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学生：从“补代码”到“定义架构、写规格、解释取舍</a:t>
            </a:r>
            <a:r>
              <a:rPr sz="1650" b="0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EBA747D-E3AA-4B55-9C15-451E90E0D0C8}"/>
              </a:ext>
            </a:extLst>
          </p:cNvPr>
          <p:cNvSpPr>
            <a:spLocks noGrp="1"/>
          </p:cNvSpPr>
          <p:nvPr/>
        </p:nvSpPr>
        <p:spPr>
          <a:xfrm>
            <a:off x="1047750" y="3019425"/>
            <a:ext cx="85725" cy="85725"/>
          </a:xfrm>
          <a:prstGeom prst="ellipse">
            <a:avLst/>
          </a:prstGeom>
          <a:solidFill>
            <a:srgbClr val="00B7C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F7ED77-E030-4267-97E2-48C3F642D5C0}"/>
              </a:ext>
            </a:extLst>
          </p:cNvPr>
          <p:cNvSpPr>
            <a:spLocks noGrp="1"/>
          </p:cNvSpPr>
          <p:nvPr/>
        </p:nvSpPr>
        <p:spPr>
          <a:xfrm>
            <a:off x="1257300" y="2971800"/>
            <a:ext cx="607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Agent：从“自由代写”到“身份绑定、阶段门禁、完整审计</a:t>
            </a:r>
            <a:r>
              <a:rPr sz="1650" b="0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8124437-EF08-41D4-AE53-E22A6C8F27B3}"/>
              </a:ext>
            </a:extLst>
          </p:cNvPr>
          <p:cNvSpPr>
            <a:spLocks noGrp="1"/>
          </p:cNvSpPr>
          <p:nvPr/>
        </p:nvSpPr>
        <p:spPr>
          <a:xfrm>
            <a:off x="1047750" y="3609975"/>
            <a:ext cx="85725" cy="85725"/>
          </a:xfrm>
          <a:prstGeom prst="ellipse">
            <a:avLst/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F4F208-B95A-4B4A-A3BF-9CE2A547932F}"/>
              </a:ext>
            </a:extLst>
          </p:cNvPr>
          <p:cNvSpPr>
            <a:spLocks noGrp="1"/>
          </p:cNvSpPr>
          <p:nvPr/>
        </p:nvSpPr>
        <p:spPr>
          <a:xfrm>
            <a:off x="1257300" y="3562350"/>
            <a:ext cx="6076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教师：从“检查代码”到“配置规则、审核设计、过程指导</a:t>
            </a:r>
            <a:r>
              <a:rPr sz="1650" b="0" dirty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A9C4F9-AC1F-482E-B77F-FDC27BA76631}"/>
              </a:ext>
            </a:extLst>
          </p:cNvPr>
          <p:cNvSpPr>
            <a:spLocks noGrp="1"/>
          </p:cNvSpPr>
          <p:nvPr/>
        </p:nvSpPr>
        <p:spPr>
          <a:xfrm>
            <a:off x="8001000" y="2015591"/>
            <a:ext cx="2857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9FC18B1-B8F5-4782-B4A1-253A387845A9}"/>
              </a:ext>
            </a:extLst>
          </p:cNvPr>
          <p:cNvSpPr>
            <a:spLocks noGrp="1"/>
          </p:cNvSpPr>
          <p:nvPr/>
        </p:nvSpPr>
        <p:spPr>
          <a:xfrm>
            <a:off x="8001000" y="2015591"/>
            <a:ext cx="76200" cy="914400"/>
          </a:xfrm>
          <a:prstGeom prst="roundRect">
            <a:avLst>
              <a:gd name="adj" fmla="val 50000"/>
            </a:avLst>
          </a:prstGeom>
          <a:solidFill>
            <a:srgbClr val="5C2D9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D0F365-BECF-41C5-8B38-27764D3D6D0E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solidFill>
                  <a:srgbClr val="5C2D91"/>
                </a:solidFill>
                <a:latin typeface="Microsoft YaHei"/>
                <a:ea typeface="Microsoft YaHei"/>
                <a:cs typeface="Microsoft YaHei"/>
              </a:rPr>
              <a:t>未来方向</a:t>
            </a:r>
            <a:endParaRPr sz="1650" b="1" dirty="0">
              <a:solidFill>
                <a:srgbClr val="5C2D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7CA191-AA69-4C95-BA2D-01534EC933E2}"/>
              </a:ext>
            </a:extLst>
          </p:cNvPr>
          <p:cNvSpPr>
            <a:spLocks noGrp="1"/>
          </p:cNvSpPr>
          <p:nvPr/>
        </p:nvSpPr>
        <p:spPr>
          <a:xfrm>
            <a:off x="8229600" y="2400300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SpecLab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通用平台：OS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/ DB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编译器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网络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运行时</a:t>
            </a:r>
            <a:r>
              <a:rPr sz="1275" b="0" dirty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0" dirty="0" err="1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硬件</a:t>
            </a:r>
            <a:endParaRPr sz="1275" b="0" dirty="0">
              <a:solidFill>
                <a:srgbClr val="5261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7CE7A15-2D6E-439B-B576-C94834E15D68}"/>
              </a:ext>
            </a:extLst>
          </p:cNvPr>
          <p:cNvSpPr>
            <a:spLocks noGrp="1"/>
          </p:cNvSpPr>
          <p:nvPr/>
        </p:nvSpPr>
        <p:spPr>
          <a:xfrm>
            <a:off x="8001000" y="3349091"/>
            <a:ext cx="2857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5869AAD-5452-4627-BA97-68E0BC6DAAD2}"/>
              </a:ext>
            </a:extLst>
          </p:cNvPr>
          <p:cNvSpPr>
            <a:spLocks noGrp="1"/>
          </p:cNvSpPr>
          <p:nvPr/>
        </p:nvSpPr>
        <p:spPr>
          <a:xfrm>
            <a:off x="8001000" y="3349091"/>
            <a:ext cx="76200" cy="914400"/>
          </a:xfrm>
          <a:prstGeom prst="roundRect">
            <a:avLst>
              <a:gd name="adj" fmla="val 50000"/>
            </a:avLst>
          </a:prstGeom>
          <a:solidFill>
            <a:srgbClr val="107C1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F4FB84-A61B-4125-9B04-BDC1040F0722}"/>
              </a:ext>
            </a:extLst>
          </p:cNvPr>
          <p:cNvSpPr>
            <a:spLocks noGrp="1"/>
          </p:cNvSpPr>
          <p:nvPr/>
        </p:nvSpPr>
        <p:spPr>
          <a:xfrm>
            <a:off x="8229600" y="3333750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7C10"/>
                </a:solidFill>
                <a:latin typeface="Microsoft YaHei"/>
                <a:ea typeface="Microsoft YaHei"/>
                <a:cs typeface="Microsoft YaHei"/>
              </a:rPr>
              <a:t>形式化验证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C5362C-0C5D-409D-8907-3EA92ECA2977}"/>
              </a:ext>
            </a:extLst>
          </p:cNvPr>
          <p:cNvSpPr>
            <a:spLocks noGrp="1"/>
          </p:cNvSpPr>
          <p:nvPr/>
        </p:nvSpPr>
        <p:spPr>
          <a:xfrm>
            <a:off x="8229600" y="3733800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借鉴 seL4 精神，以轻量自动化检查进入教学流程。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0CC76C6-F80C-4033-9A8B-94E3A62987A8}"/>
              </a:ext>
            </a:extLst>
          </p:cNvPr>
          <p:cNvSpPr>
            <a:spLocks noGrp="1"/>
          </p:cNvSpPr>
          <p:nvPr/>
        </p:nvSpPr>
        <p:spPr>
          <a:xfrm>
            <a:off x="8001000" y="4682591"/>
            <a:ext cx="2857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4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77A1610-38DF-4898-9D43-FF571A5FED5C}"/>
              </a:ext>
            </a:extLst>
          </p:cNvPr>
          <p:cNvSpPr>
            <a:spLocks noGrp="1"/>
          </p:cNvSpPr>
          <p:nvPr/>
        </p:nvSpPr>
        <p:spPr>
          <a:xfrm>
            <a:off x="8001000" y="4682591"/>
            <a:ext cx="76200" cy="914400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BFBF2C-3DE2-447A-B8A2-178D88C340CF}"/>
              </a:ext>
            </a:extLst>
          </p:cNvPr>
          <p:cNvSpPr>
            <a:spLocks noGrp="1"/>
          </p:cNvSpPr>
          <p:nvPr/>
        </p:nvSpPr>
        <p:spPr>
          <a:xfrm>
            <a:off x="8229600" y="4667250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C00"/>
                </a:solidFill>
                <a:latin typeface="Microsoft YaHei"/>
                <a:ea typeface="Microsoft YaHei"/>
                <a:cs typeface="Microsoft YaHei"/>
              </a:rPr>
              <a:t>CaseLab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2B8657-D458-4CA2-99E7-61A52D7485A3}"/>
              </a:ext>
            </a:extLst>
          </p:cNvPr>
          <p:cNvSpPr>
            <a:spLocks noGrp="1"/>
          </p:cNvSpPr>
          <p:nvPr/>
        </p:nvSpPr>
        <p:spPr>
          <a:xfrm>
            <a:off x="8229600" y="5067300"/>
            <a:ext cx="2457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F"/>
                </a:solidFill>
                <a:latin typeface="Microsoft YaHei"/>
                <a:ea typeface="Microsoft YaHei"/>
                <a:cs typeface="Microsoft YaHei"/>
              </a:rPr>
              <a:t>真实案例驱动的 OS 诊断与修复训练。</a:t>
            </a:r>
          </a:p>
        </p:txBody>
      </p:sp>
    </p:spTree>
    <p:extLst>
      <p:ext uri="{BB962C8B-B14F-4D97-AF65-F5344CB8AC3E}">
        <p14:creationId xmlns:p14="http://schemas.microsoft.com/office/powerpoint/2010/main" val="17756734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1638</Words>
  <Application>Microsoft Office PowerPoint</Application>
  <DocSecurity>0</DocSecurity>
  <PresentationFormat>宽屏</PresentationFormat>
  <Paragraphs>524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Microsoft YaHei UI</vt:lpstr>
      <vt:lpstr>Microsoft YaHei</vt:lpstr>
      <vt:lpstr>Calibri</vt:lpstr>
      <vt:lpstr>Cascadia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 w</cp:lastModifiedBy>
  <cp:revision>18</cp:revision>
  <dcterms:created xsi:type="dcterms:W3CDTF">2026-06-30T11:47:47Z</dcterms:created>
  <dcterms:modified xsi:type="dcterms:W3CDTF">2026-06-30T12:21:29Z</dcterms:modified>
</cp:coreProperties>
</file>